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y="5143500" cx="9144000"/>
  <p:notesSz cx="6858000" cy="9144000"/>
  <p:embeddedFontLst>
    <p:embeddedFont>
      <p:font typeface="Raleway"/>
      <p:regular r:id="rId21"/>
      <p:bold r:id="rId22"/>
      <p:italic r:id="rId23"/>
      <p:boldItalic r:id="rId24"/>
    </p:embeddedFont>
    <p:embeddedFont>
      <p:font typeface="Lato"/>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2" name="Omer Sutovsky"/>
  <p:cmAuthor clrIdx="1" id="1" initials="" lastIdx="2" name="Ido Ravid"/>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FF99236-98A0-4587-A767-54F4A6220190}">
  <a:tblStyle styleId="{5FF99236-98A0-4587-A767-54F4A6220190}"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font" Target="fonts/Raleway-bold.fntdata"/><Relationship Id="rId21" Type="http://schemas.openxmlformats.org/officeDocument/2006/relationships/font" Target="fonts/Raleway-regular.fntdata"/><Relationship Id="rId24" Type="http://schemas.openxmlformats.org/officeDocument/2006/relationships/font" Target="fonts/Raleway-boldItalic.fntdata"/><Relationship Id="rId23" Type="http://schemas.openxmlformats.org/officeDocument/2006/relationships/font" Target="fonts/Raleway-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font" Target="fonts/Lato-bold.fntdata"/><Relationship Id="rId25" Type="http://schemas.openxmlformats.org/officeDocument/2006/relationships/font" Target="fonts/Lato-regular.fntdata"/><Relationship Id="rId28" Type="http://schemas.openxmlformats.org/officeDocument/2006/relationships/font" Target="fonts/Lato-boldItalic.fntdata"/><Relationship Id="rId27" Type="http://schemas.openxmlformats.org/officeDocument/2006/relationships/font" Target="fonts/Lato-italic.fntdata"/><Relationship Id="rId5" Type="http://schemas.openxmlformats.org/officeDocument/2006/relationships/commentAuthors" Target="commentAuthors.xml"/><Relationship Id="rId6" Type="http://schemas.openxmlformats.org/officeDocument/2006/relationships/slideMaster" Target="slideMasters/slideMaster1.xml"/><Relationship Id="rId7" Type="http://schemas.openxmlformats.org/officeDocument/2006/relationships/notesMaster" Target="notesMasters/notesMaster1.xml"/><Relationship Id="rId8" Type="http://schemas.openxmlformats.org/officeDocument/2006/relationships/slide" Target="slides/slide1.xml"/><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5-18T07:30:51.062">
    <p:pos x="6000" y="0"/>
    <p:text>אלו הגרסאות הכי טובות שהצלחתי להוציא מננו בננה.</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1" idx="1" dt="2026-05-18T08:25:41.653">
    <p:pos x="6000" y="0"/>
    <p:text>לדעתי סניפים ממש מקלוד הם עדיפים על להעתיק ולהדביק, הקטע זה להראות שהם אותנטיים
מה דעתך?</p:text>
  </p:cm>
  <p:cm authorId="0" idx="2" dt="2026-05-18T08:25:41.653">
    <p:pos x="6000" y="0"/>
    <p:text>הם היו בסקאלות עקומות ממש, מלבניים כך שלא נכנסו בצורה יפה בשקף. כתבתי את התוכן שלהם בתיבות טקסט כדיי שיהיה אפשר. 
אם אתה מצליח לגרום להם להיראות טוב אז אין לי איזה משהו נגד - נטו ויזואלי</p:tex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1" idx="2" dt="2026-05-18T08:44:15.249">
    <p:pos x="459" y="369"/>
    <p:text>תגיד מה דעתך, לדעתי עדיף ככה</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e2a60575ab_1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e2a60575ab_1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e2d89c5bf6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e2d89c5bf6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e2a60575ab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e2a60575ab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e2d89c5bf6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e2d89c5bf6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e2ab942a0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e2ab942a0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e2a60575ab_1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e2a60575ab_1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To run, follow these instructions:</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Clr>
                <a:schemeClr val="dk1"/>
              </a:buClr>
              <a:buSzPts val="1100"/>
              <a:buFont typeface="Arial"/>
              <a:buNone/>
            </a:pPr>
            <a:r>
              <a:rPr lang="en-GB"/>
              <a:t>One-time setup (if on a new machine):</a:t>
            </a:r>
            <a:endParaRPr/>
          </a:p>
          <a:p>
            <a:pPr indent="0" lvl="0" marL="0" rtl="0" algn="l">
              <a:lnSpc>
                <a:spcPct val="115000"/>
              </a:lnSpc>
              <a:spcBef>
                <a:spcPts val="0"/>
              </a:spcBef>
              <a:spcAft>
                <a:spcPts val="0"/>
              </a:spcAft>
              <a:buClr>
                <a:schemeClr val="dk1"/>
              </a:buClr>
              <a:buSzPts val="1100"/>
              <a:buFont typeface="Arial"/>
              <a:buNone/>
            </a:pPr>
            <a:r>
              <a:rPr lang="en-GB"/>
              <a:t>  cd /path/to/StatisticsLab</a:t>
            </a:r>
            <a:endParaRPr/>
          </a:p>
          <a:p>
            <a:pPr indent="0" lvl="0" marL="0" rtl="0" algn="l">
              <a:lnSpc>
                <a:spcPct val="115000"/>
              </a:lnSpc>
              <a:spcBef>
                <a:spcPts val="0"/>
              </a:spcBef>
              <a:spcAft>
                <a:spcPts val="0"/>
              </a:spcAft>
              <a:buClr>
                <a:schemeClr val="dk1"/>
              </a:buClr>
              <a:buSzPts val="1100"/>
              <a:buFont typeface="Arial"/>
              <a:buNone/>
            </a:pPr>
            <a:r>
              <a:rPr lang="en-GB"/>
              <a:t>  git pull</a:t>
            </a:r>
            <a:endParaRPr/>
          </a:p>
          <a:p>
            <a:pPr indent="0" lvl="0" marL="0" rtl="0" algn="l">
              <a:lnSpc>
                <a:spcPct val="115000"/>
              </a:lnSpc>
              <a:spcBef>
                <a:spcPts val="0"/>
              </a:spcBef>
              <a:spcAft>
                <a:spcPts val="0"/>
              </a:spcAft>
              <a:buClr>
                <a:schemeClr val="dk1"/>
              </a:buClr>
              <a:buSzPts val="1100"/>
              <a:buFont typeface="Arial"/>
              <a:buNone/>
            </a:pPr>
            <a:r>
              <a:rPr lang="en-GB"/>
              <a:t>  Rscript -e "install.packages(c('shiny','data.table','splines','plotly'), repos='https://cloud.r-project.org')"</a:t>
            </a:r>
            <a:endParaRPr/>
          </a:p>
          <a:p>
            <a:pPr indent="0" lvl="0" marL="0" rtl="0" algn="l">
              <a:lnSpc>
                <a:spcPct val="115000"/>
              </a:lnSpc>
              <a:spcBef>
                <a:spcPts val="0"/>
              </a:spcBef>
              <a:spcAft>
                <a:spcPts val="0"/>
              </a:spcAft>
              <a:buClr>
                <a:schemeClr val="dk1"/>
              </a:buClr>
              <a:buSzPts val="1100"/>
              <a:buFont typeface="Arial"/>
              <a:buNone/>
            </a:pPr>
            <a:r>
              <a:rPr lang="en-GB"/>
              <a:t>  </a:t>
            </a:r>
            <a:endParaRPr/>
          </a:p>
          <a:p>
            <a:pPr indent="0" lvl="0" marL="0" rtl="0" algn="l">
              <a:lnSpc>
                <a:spcPct val="115000"/>
              </a:lnSpc>
              <a:spcBef>
                <a:spcPts val="0"/>
              </a:spcBef>
              <a:spcAft>
                <a:spcPts val="0"/>
              </a:spcAft>
              <a:buClr>
                <a:schemeClr val="dk1"/>
              </a:buClr>
              <a:buSzPts val="1100"/>
              <a:buFont typeface="Arial"/>
              <a:buNone/>
            </a:pPr>
            <a:r>
              <a:rPr lang="en-GB"/>
              <a:t>  Every time you want to run it:</a:t>
            </a:r>
            <a:endParaRPr/>
          </a:p>
          <a:p>
            <a:pPr indent="0" lvl="0" marL="0" rtl="0" algn="l">
              <a:lnSpc>
                <a:spcPct val="115000"/>
              </a:lnSpc>
              <a:spcBef>
                <a:spcPts val="0"/>
              </a:spcBef>
              <a:spcAft>
                <a:spcPts val="0"/>
              </a:spcAft>
              <a:buClr>
                <a:schemeClr val="dk1"/>
              </a:buClr>
              <a:buSzPts val="1100"/>
              <a:buFont typeface="Arial"/>
              <a:buNone/>
            </a:pPr>
            <a:r>
              <a:rPr lang="en-GB"/>
              <a:t>  cd /Users/idoravid/Documents/Studies/Stat\ Lab/StatisticsLab</a:t>
            </a:r>
            <a:endParaRPr/>
          </a:p>
          <a:p>
            <a:pPr indent="0" lvl="0" marL="0" rtl="0" algn="l">
              <a:lnSpc>
                <a:spcPct val="115000"/>
              </a:lnSpc>
              <a:spcBef>
                <a:spcPts val="0"/>
              </a:spcBef>
              <a:spcAft>
                <a:spcPts val="0"/>
              </a:spcAft>
              <a:buClr>
                <a:schemeClr val="dk1"/>
              </a:buClr>
              <a:buSzPts val="1100"/>
              <a:buFont typeface="Arial"/>
              <a:buNone/>
            </a:pPr>
            <a:r>
              <a:rPr lang="en-GB"/>
              <a:t>  Rscript -e "shiny::runApp('lab5/shiny_app')"</a:t>
            </a:r>
            <a:endParaRPr/>
          </a:p>
          <a:p>
            <a:pPr indent="0" lvl="0" marL="0" rtl="0" algn="l">
              <a:lnSpc>
                <a:spcPct val="115000"/>
              </a:lnSpc>
              <a:spcBef>
                <a:spcPts val="0"/>
              </a:spcBef>
              <a:spcAft>
                <a:spcPts val="0"/>
              </a:spcAft>
              <a:buClr>
                <a:schemeClr val="dk1"/>
              </a:buClr>
              <a:buSzPts val="1100"/>
              <a:buFont typeface="Arial"/>
              <a:buNone/>
            </a:pPr>
            <a:r>
              <a:rPr lang="en-GB"/>
              <a:t>  </a:t>
            </a:r>
            <a:endParaRPr/>
          </a:p>
          <a:p>
            <a:pPr indent="0" lvl="0" marL="0" rtl="0" algn="l">
              <a:lnSpc>
                <a:spcPct val="115000"/>
              </a:lnSpc>
              <a:spcBef>
                <a:spcPts val="0"/>
              </a:spcBef>
              <a:spcAft>
                <a:spcPts val="0"/>
              </a:spcAft>
              <a:buClr>
                <a:schemeClr val="dk1"/>
              </a:buClr>
              <a:buSzPts val="1100"/>
              <a:buFont typeface="Arial"/>
              <a:buNone/>
            </a:pPr>
            <a:r>
              <a:rPr lang="en-GB"/>
              <a:t>  Then open http://127.0.0.1:3838 in your browser.</a:t>
            </a:r>
            <a:endParaRPr/>
          </a:p>
          <a:p>
            <a:pPr indent="0" lvl="0" marL="0" rtl="0" algn="l">
              <a:lnSpc>
                <a:spcPct val="115000"/>
              </a:lnSpc>
              <a:spcBef>
                <a:spcPts val="0"/>
              </a:spcBef>
              <a:spcAft>
                <a:spcPts val="0"/>
              </a:spcAft>
              <a:buClr>
                <a:schemeClr val="dk1"/>
              </a:buClr>
              <a:buSzPts val="1100"/>
              <a:buFont typeface="Arial"/>
              <a:buNone/>
            </a:pPr>
            <a:r>
              <a:rPr lang="en-GB"/>
              <a:t>  Expected startup output:</a:t>
            </a:r>
            <a:endParaRPr/>
          </a:p>
          <a:p>
            <a:pPr indent="0" lvl="0" marL="0" rtl="0" algn="l">
              <a:lnSpc>
                <a:spcPct val="115000"/>
              </a:lnSpc>
              <a:spcBef>
                <a:spcPts val="0"/>
              </a:spcBef>
              <a:spcAft>
                <a:spcPts val="0"/>
              </a:spcAft>
              <a:buClr>
                <a:schemeClr val="dk1"/>
              </a:buClr>
              <a:buSzPts val="1100"/>
              <a:buFont typeface="Arial"/>
              <a:buNone/>
            </a:pPr>
            <a:r>
              <a:rPr lang="en-GB"/>
              <a:t>  [1/6] Reading reads file...</a:t>
            </a:r>
            <a:endParaRPr/>
          </a:p>
          <a:p>
            <a:pPr indent="0" lvl="0" marL="0" rtl="0" algn="l">
              <a:lnSpc>
                <a:spcPct val="115000"/>
              </a:lnSpc>
              <a:spcBef>
                <a:spcPts val="0"/>
              </a:spcBef>
              <a:spcAft>
                <a:spcPts val="0"/>
              </a:spcAft>
              <a:buClr>
                <a:schemeClr val="dk1"/>
              </a:buClr>
              <a:buSzPts val="1100"/>
              <a:buFont typeface="Arial"/>
              <a:buNone/>
            </a:pPr>
            <a:r>
              <a:rPr lang="en-GB"/>
              <a:t>  [2/6] Loading chromosome sequence...</a:t>
            </a:r>
            <a:endParaRPr/>
          </a:p>
          <a:p>
            <a:pPr indent="0" lvl="0" marL="0" rtl="0" algn="l">
              <a:lnSpc>
                <a:spcPct val="115000"/>
              </a:lnSpc>
              <a:spcBef>
                <a:spcPts val="0"/>
              </a:spcBef>
              <a:spcAft>
                <a:spcPts val="0"/>
              </a:spcAft>
              <a:buClr>
                <a:schemeClr val="dk1"/>
              </a:buClr>
              <a:buSzPts val="1100"/>
              <a:buFont typeface="Arial"/>
              <a:buNone/>
            </a:pPr>
            <a:r>
              <a:rPr lang="en-GB"/>
              <a:t>  [3/6] Loading precomputed cache...  ← instant, no recomputing</a:t>
            </a:r>
            <a:endParaRPr/>
          </a:p>
          <a:p>
            <a:pPr indent="0" lvl="0" marL="0" rtl="0" algn="l">
              <a:lnSpc>
                <a:spcPct val="115000"/>
              </a:lnSpc>
              <a:spcBef>
                <a:spcPts val="0"/>
              </a:spcBef>
              <a:spcAft>
                <a:spcPts val="0"/>
              </a:spcAft>
              <a:buClr>
                <a:schemeClr val="dk1"/>
              </a:buClr>
              <a:buSzPts val="1100"/>
              <a:buFont typeface="Arial"/>
              <a:buNone/>
            </a:pPr>
            <a:r>
              <a:rPr lang="en-GB"/>
              <a:t>        -&gt; cache loaded instantly!</a:t>
            </a:r>
            <a:endParaRPr/>
          </a:p>
          <a:p>
            <a:pPr indent="0" lvl="0" marL="0" rtl="0" algn="l">
              <a:lnSpc>
                <a:spcPct val="115000"/>
              </a:lnSpc>
              <a:spcBef>
                <a:spcPts val="0"/>
              </a:spcBef>
              <a:spcAft>
                <a:spcPts val="0"/>
              </a:spcAft>
              <a:buClr>
                <a:schemeClr val="dk1"/>
              </a:buClr>
              <a:buSzPts val="1100"/>
              <a:buFont typeface="Arial"/>
              <a:buNone/>
            </a:pPr>
            <a:r>
              <a:rPr lang="en-GB"/>
              <a:t>  [6/6] All precomputation done — app ready!</a:t>
            </a:r>
            <a:endParaRPr/>
          </a:p>
          <a:p>
            <a:pPr indent="0" lvl="0" marL="0" rtl="0" algn="l">
              <a:lnSpc>
                <a:spcPct val="115000"/>
              </a:lnSpc>
              <a:spcBef>
                <a:spcPts val="0"/>
              </a:spcBef>
              <a:spcAft>
                <a:spcPts val="0"/>
              </a:spcAft>
              <a:buClr>
                <a:schemeClr val="dk1"/>
              </a:buClr>
              <a:buSzPts val="1100"/>
              <a:buFont typeface="Arial"/>
              <a:buNone/>
            </a:pPr>
            <a:r>
              <a:rPr lang="en-GB"/>
              <a:t>  Listening on http://127.0.0.1:3838</a:t>
            </a:r>
            <a:endParaRPr/>
          </a:p>
          <a:p>
            <a:pPr indent="0" lvl="0" marL="0" rtl="0" algn="l">
              <a:lnSpc>
                <a:spcPct val="115000"/>
              </a:lnSpc>
              <a:spcBef>
                <a:spcPts val="0"/>
              </a:spcBef>
              <a:spcAft>
                <a:spcPts val="0"/>
              </a:spcAft>
              <a:buClr>
                <a:schemeClr val="dk1"/>
              </a:buClr>
              <a:buSzPts val="1100"/>
              <a:buFont typeface="Arial"/>
              <a:buNone/>
            </a:pPr>
            <a:r>
              <a:rPr lang="en-GB"/>
              <a:t>  </a:t>
            </a:r>
            <a:endParaRPr/>
          </a:p>
          <a:p>
            <a:pPr indent="0" lvl="0" marL="0" rtl="0" algn="l">
              <a:lnSpc>
                <a:spcPct val="115000"/>
              </a:lnSpc>
              <a:spcBef>
                <a:spcPts val="0"/>
              </a:spcBef>
              <a:spcAft>
                <a:spcPts val="0"/>
              </a:spcAft>
              <a:buClr>
                <a:schemeClr val="dk1"/>
              </a:buClr>
              <a:buSzPts val="1100"/>
              <a:buFont typeface="Arial"/>
              <a:buNone/>
            </a:pPr>
            <a:r>
              <a:rPr lang="en-GB"/>
              <a:t>  To stop it: Ctrl+C in the terminal.</a:t>
            </a:r>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e2a60575ab_1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e2a60575ab_1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To run, follow these instructions:</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GB"/>
              <a:t>One-time setup (if on a new machine):</a:t>
            </a:r>
            <a:endParaRPr/>
          </a:p>
          <a:p>
            <a:pPr indent="0" lvl="0" marL="0" rtl="0" algn="l">
              <a:lnSpc>
                <a:spcPct val="115000"/>
              </a:lnSpc>
              <a:spcBef>
                <a:spcPts val="0"/>
              </a:spcBef>
              <a:spcAft>
                <a:spcPts val="0"/>
              </a:spcAft>
              <a:buNone/>
            </a:pPr>
            <a:r>
              <a:rPr lang="en-GB"/>
              <a:t>  cd /path/to/StatisticsLab</a:t>
            </a:r>
            <a:endParaRPr/>
          </a:p>
          <a:p>
            <a:pPr indent="0" lvl="0" marL="0" rtl="0" algn="l">
              <a:lnSpc>
                <a:spcPct val="115000"/>
              </a:lnSpc>
              <a:spcBef>
                <a:spcPts val="0"/>
              </a:spcBef>
              <a:spcAft>
                <a:spcPts val="0"/>
              </a:spcAft>
              <a:buNone/>
            </a:pPr>
            <a:r>
              <a:rPr lang="en-GB"/>
              <a:t>  git pull</a:t>
            </a:r>
            <a:endParaRPr/>
          </a:p>
          <a:p>
            <a:pPr indent="0" lvl="0" marL="0" rtl="0" algn="l">
              <a:lnSpc>
                <a:spcPct val="115000"/>
              </a:lnSpc>
              <a:spcBef>
                <a:spcPts val="0"/>
              </a:spcBef>
              <a:spcAft>
                <a:spcPts val="0"/>
              </a:spcAft>
              <a:buNone/>
            </a:pPr>
            <a:r>
              <a:rPr lang="en-GB"/>
              <a:t>  Rscript -e "install.packages(c('shiny','data.table','splines','plotly'), repos='https://cloud.r-project.org')"</a:t>
            </a:r>
            <a:endParaRPr/>
          </a:p>
          <a:p>
            <a:pPr indent="0" lvl="0" marL="0" rtl="0" algn="l">
              <a:lnSpc>
                <a:spcPct val="115000"/>
              </a:lnSpc>
              <a:spcBef>
                <a:spcPts val="0"/>
              </a:spcBef>
              <a:spcAft>
                <a:spcPts val="0"/>
              </a:spcAft>
              <a:buNone/>
            </a:pPr>
            <a:r>
              <a:rPr lang="en-GB"/>
              <a:t>  </a:t>
            </a:r>
            <a:endParaRPr/>
          </a:p>
          <a:p>
            <a:pPr indent="0" lvl="0" marL="0" rtl="0" algn="l">
              <a:lnSpc>
                <a:spcPct val="115000"/>
              </a:lnSpc>
              <a:spcBef>
                <a:spcPts val="0"/>
              </a:spcBef>
              <a:spcAft>
                <a:spcPts val="0"/>
              </a:spcAft>
              <a:buNone/>
            </a:pPr>
            <a:r>
              <a:rPr lang="en-GB"/>
              <a:t>  Every time you want to run it:</a:t>
            </a:r>
            <a:endParaRPr/>
          </a:p>
          <a:p>
            <a:pPr indent="0" lvl="0" marL="0" rtl="0" algn="l">
              <a:lnSpc>
                <a:spcPct val="115000"/>
              </a:lnSpc>
              <a:spcBef>
                <a:spcPts val="0"/>
              </a:spcBef>
              <a:spcAft>
                <a:spcPts val="0"/>
              </a:spcAft>
              <a:buNone/>
            </a:pPr>
            <a:r>
              <a:rPr lang="en-GB"/>
              <a:t>  cd /Users/idoravid/Documents/Studies/Stat\ Lab/StatisticsLab</a:t>
            </a:r>
            <a:endParaRPr/>
          </a:p>
          <a:p>
            <a:pPr indent="0" lvl="0" marL="0" rtl="0" algn="l">
              <a:lnSpc>
                <a:spcPct val="115000"/>
              </a:lnSpc>
              <a:spcBef>
                <a:spcPts val="0"/>
              </a:spcBef>
              <a:spcAft>
                <a:spcPts val="0"/>
              </a:spcAft>
              <a:buNone/>
            </a:pPr>
            <a:r>
              <a:rPr lang="en-GB"/>
              <a:t>  Rscript -e "shiny::runApp('lab5/shiny_app')"</a:t>
            </a:r>
            <a:endParaRPr/>
          </a:p>
          <a:p>
            <a:pPr indent="0" lvl="0" marL="0" rtl="0" algn="l">
              <a:lnSpc>
                <a:spcPct val="115000"/>
              </a:lnSpc>
              <a:spcBef>
                <a:spcPts val="0"/>
              </a:spcBef>
              <a:spcAft>
                <a:spcPts val="0"/>
              </a:spcAft>
              <a:buNone/>
            </a:pPr>
            <a:r>
              <a:rPr lang="en-GB"/>
              <a:t>  </a:t>
            </a:r>
            <a:endParaRPr/>
          </a:p>
          <a:p>
            <a:pPr indent="0" lvl="0" marL="0" rtl="0" algn="l">
              <a:lnSpc>
                <a:spcPct val="115000"/>
              </a:lnSpc>
              <a:spcBef>
                <a:spcPts val="0"/>
              </a:spcBef>
              <a:spcAft>
                <a:spcPts val="0"/>
              </a:spcAft>
              <a:buNone/>
            </a:pPr>
            <a:r>
              <a:rPr lang="en-GB"/>
              <a:t>  Then open http://127.0.0.1:3838 in your browser.</a:t>
            </a:r>
            <a:endParaRPr/>
          </a:p>
          <a:p>
            <a:pPr indent="0" lvl="0" marL="0" rtl="0" algn="l">
              <a:lnSpc>
                <a:spcPct val="115000"/>
              </a:lnSpc>
              <a:spcBef>
                <a:spcPts val="0"/>
              </a:spcBef>
              <a:spcAft>
                <a:spcPts val="0"/>
              </a:spcAft>
              <a:buNone/>
            </a:pPr>
            <a:r>
              <a:rPr lang="en-GB"/>
              <a:t>  Expected startup output:</a:t>
            </a:r>
            <a:endParaRPr/>
          </a:p>
          <a:p>
            <a:pPr indent="0" lvl="0" marL="0" rtl="0" algn="l">
              <a:lnSpc>
                <a:spcPct val="115000"/>
              </a:lnSpc>
              <a:spcBef>
                <a:spcPts val="0"/>
              </a:spcBef>
              <a:spcAft>
                <a:spcPts val="0"/>
              </a:spcAft>
              <a:buNone/>
            </a:pPr>
            <a:r>
              <a:rPr lang="en-GB"/>
              <a:t>  [1/6] Reading reads file...</a:t>
            </a:r>
            <a:endParaRPr/>
          </a:p>
          <a:p>
            <a:pPr indent="0" lvl="0" marL="0" rtl="0" algn="l">
              <a:lnSpc>
                <a:spcPct val="115000"/>
              </a:lnSpc>
              <a:spcBef>
                <a:spcPts val="0"/>
              </a:spcBef>
              <a:spcAft>
                <a:spcPts val="0"/>
              </a:spcAft>
              <a:buNone/>
            </a:pPr>
            <a:r>
              <a:rPr lang="en-GB"/>
              <a:t>  [2/6] Loading chromosome sequence...</a:t>
            </a:r>
            <a:endParaRPr/>
          </a:p>
          <a:p>
            <a:pPr indent="0" lvl="0" marL="0" rtl="0" algn="l">
              <a:lnSpc>
                <a:spcPct val="115000"/>
              </a:lnSpc>
              <a:spcBef>
                <a:spcPts val="0"/>
              </a:spcBef>
              <a:spcAft>
                <a:spcPts val="0"/>
              </a:spcAft>
              <a:buNone/>
            </a:pPr>
            <a:r>
              <a:rPr lang="en-GB"/>
              <a:t>  [3/6] Loading precomputed cache...  ← instant, no recomputing</a:t>
            </a:r>
            <a:endParaRPr/>
          </a:p>
          <a:p>
            <a:pPr indent="0" lvl="0" marL="0" rtl="0" algn="l">
              <a:lnSpc>
                <a:spcPct val="115000"/>
              </a:lnSpc>
              <a:spcBef>
                <a:spcPts val="0"/>
              </a:spcBef>
              <a:spcAft>
                <a:spcPts val="0"/>
              </a:spcAft>
              <a:buNone/>
            </a:pPr>
            <a:r>
              <a:rPr lang="en-GB"/>
              <a:t>        -&gt; cache loaded instantly!</a:t>
            </a:r>
            <a:endParaRPr/>
          </a:p>
          <a:p>
            <a:pPr indent="0" lvl="0" marL="0" rtl="0" algn="l">
              <a:lnSpc>
                <a:spcPct val="115000"/>
              </a:lnSpc>
              <a:spcBef>
                <a:spcPts val="0"/>
              </a:spcBef>
              <a:spcAft>
                <a:spcPts val="0"/>
              </a:spcAft>
              <a:buNone/>
            </a:pPr>
            <a:r>
              <a:rPr lang="en-GB"/>
              <a:t>  [6/6] All precomputation done — app ready!</a:t>
            </a:r>
            <a:endParaRPr/>
          </a:p>
          <a:p>
            <a:pPr indent="0" lvl="0" marL="0" rtl="0" algn="l">
              <a:lnSpc>
                <a:spcPct val="115000"/>
              </a:lnSpc>
              <a:spcBef>
                <a:spcPts val="0"/>
              </a:spcBef>
              <a:spcAft>
                <a:spcPts val="0"/>
              </a:spcAft>
              <a:buNone/>
            </a:pPr>
            <a:r>
              <a:rPr lang="en-GB"/>
              <a:t>  Listening on http://127.0.0.1:3838</a:t>
            </a:r>
            <a:endParaRPr/>
          </a:p>
          <a:p>
            <a:pPr indent="0" lvl="0" marL="0" rtl="0" algn="l">
              <a:lnSpc>
                <a:spcPct val="115000"/>
              </a:lnSpc>
              <a:spcBef>
                <a:spcPts val="0"/>
              </a:spcBef>
              <a:spcAft>
                <a:spcPts val="0"/>
              </a:spcAft>
              <a:buNone/>
            </a:pPr>
            <a:r>
              <a:rPr lang="en-GB"/>
              <a:t>  </a:t>
            </a:r>
            <a:endParaRPr/>
          </a:p>
          <a:p>
            <a:pPr indent="0" lvl="0" marL="0" rtl="0" algn="l">
              <a:lnSpc>
                <a:spcPct val="115000"/>
              </a:lnSpc>
              <a:spcBef>
                <a:spcPts val="0"/>
              </a:spcBef>
              <a:spcAft>
                <a:spcPts val="0"/>
              </a:spcAft>
              <a:buNone/>
            </a:pPr>
            <a:r>
              <a:rPr lang="en-GB"/>
              <a:t>  To stop it: Ctrl+C in the terminal.</a:t>
            </a:r>
            <a:endParaRPr/>
          </a:p>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e2a60575ab_1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e2a60575ab_1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To run, follow these instructions:</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GB"/>
              <a:t>One-time setup (if on a new machine):</a:t>
            </a:r>
            <a:endParaRPr/>
          </a:p>
          <a:p>
            <a:pPr indent="0" lvl="0" marL="0" rtl="0" algn="l">
              <a:lnSpc>
                <a:spcPct val="115000"/>
              </a:lnSpc>
              <a:spcBef>
                <a:spcPts val="0"/>
              </a:spcBef>
              <a:spcAft>
                <a:spcPts val="0"/>
              </a:spcAft>
              <a:buNone/>
            </a:pPr>
            <a:r>
              <a:rPr lang="en-GB"/>
              <a:t>  cd /path/to/StatisticsLab</a:t>
            </a:r>
            <a:endParaRPr/>
          </a:p>
          <a:p>
            <a:pPr indent="0" lvl="0" marL="0" rtl="0" algn="l">
              <a:lnSpc>
                <a:spcPct val="115000"/>
              </a:lnSpc>
              <a:spcBef>
                <a:spcPts val="0"/>
              </a:spcBef>
              <a:spcAft>
                <a:spcPts val="0"/>
              </a:spcAft>
              <a:buNone/>
            </a:pPr>
            <a:r>
              <a:rPr lang="en-GB"/>
              <a:t>  git pull</a:t>
            </a:r>
            <a:endParaRPr/>
          </a:p>
          <a:p>
            <a:pPr indent="0" lvl="0" marL="0" rtl="0" algn="l">
              <a:lnSpc>
                <a:spcPct val="115000"/>
              </a:lnSpc>
              <a:spcBef>
                <a:spcPts val="0"/>
              </a:spcBef>
              <a:spcAft>
                <a:spcPts val="0"/>
              </a:spcAft>
              <a:buNone/>
            </a:pPr>
            <a:r>
              <a:rPr lang="en-GB"/>
              <a:t>  Rscript -e "install.packages(c('shiny','data.table','splines','plotly'), repos='https://cloud.r-project.org')"</a:t>
            </a:r>
            <a:endParaRPr/>
          </a:p>
          <a:p>
            <a:pPr indent="0" lvl="0" marL="0" rtl="0" algn="l">
              <a:lnSpc>
                <a:spcPct val="115000"/>
              </a:lnSpc>
              <a:spcBef>
                <a:spcPts val="0"/>
              </a:spcBef>
              <a:spcAft>
                <a:spcPts val="0"/>
              </a:spcAft>
              <a:buNone/>
            </a:pPr>
            <a:r>
              <a:rPr lang="en-GB"/>
              <a:t>  </a:t>
            </a:r>
            <a:endParaRPr/>
          </a:p>
          <a:p>
            <a:pPr indent="0" lvl="0" marL="0" rtl="0" algn="l">
              <a:lnSpc>
                <a:spcPct val="115000"/>
              </a:lnSpc>
              <a:spcBef>
                <a:spcPts val="0"/>
              </a:spcBef>
              <a:spcAft>
                <a:spcPts val="0"/>
              </a:spcAft>
              <a:buNone/>
            </a:pPr>
            <a:r>
              <a:rPr lang="en-GB"/>
              <a:t>  Every time you want to run it:</a:t>
            </a:r>
            <a:endParaRPr/>
          </a:p>
          <a:p>
            <a:pPr indent="0" lvl="0" marL="0" rtl="0" algn="l">
              <a:lnSpc>
                <a:spcPct val="115000"/>
              </a:lnSpc>
              <a:spcBef>
                <a:spcPts val="0"/>
              </a:spcBef>
              <a:spcAft>
                <a:spcPts val="0"/>
              </a:spcAft>
              <a:buNone/>
            </a:pPr>
            <a:r>
              <a:rPr lang="en-GB"/>
              <a:t>  cd /Users/idoravid/Documents/Studies/Stat\ Lab/StatisticsLab</a:t>
            </a:r>
            <a:endParaRPr/>
          </a:p>
          <a:p>
            <a:pPr indent="0" lvl="0" marL="0" rtl="0" algn="l">
              <a:lnSpc>
                <a:spcPct val="115000"/>
              </a:lnSpc>
              <a:spcBef>
                <a:spcPts val="0"/>
              </a:spcBef>
              <a:spcAft>
                <a:spcPts val="0"/>
              </a:spcAft>
              <a:buNone/>
            </a:pPr>
            <a:r>
              <a:rPr lang="en-GB"/>
              <a:t>  Rscript -e "shiny::runApp('lab5/shiny_app')"</a:t>
            </a:r>
            <a:endParaRPr/>
          </a:p>
          <a:p>
            <a:pPr indent="0" lvl="0" marL="0" rtl="0" algn="l">
              <a:lnSpc>
                <a:spcPct val="115000"/>
              </a:lnSpc>
              <a:spcBef>
                <a:spcPts val="0"/>
              </a:spcBef>
              <a:spcAft>
                <a:spcPts val="0"/>
              </a:spcAft>
              <a:buNone/>
            </a:pPr>
            <a:r>
              <a:rPr lang="en-GB"/>
              <a:t>  </a:t>
            </a:r>
            <a:endParaRPr/>
          </a:p>
          <a:p>
            <a:pPr indent="0" lvl="0" marL="0" rtl="0" algn="l">
              <a:lnSpc>
                <a:spcPct val="115000"/>
              </a:lnSpc>
              <a:spcBef>
                <a:spcPts val="0"/>
              </a:spcBef>
              <a:spcAft>
                <a:spcPts val="0"/>
              </a:spcAft>
              <a:buNone/>
            </a:pPr>
            <a:r>
              <a:rPr lang="en-GB"/>
              <a:t>  Then open http://127.0.0.1:3838 in your browser.</a:t>
            </a:r>
            <a:endParaRPr/>
          </a:p>
          <a:p>
            <a:pPr indent="0" lvl="0" marL="0" rtl="0" algn="l">
              <a:lnSpc>
                <a:spcPct val="115000"/>
              </a:lnSpc>
              <a:spcBef>
                <a:spcPts val="0"/>
              </a:spcBef>
              <a:spcAft>
                <a:spcPts val="0"/>
              </a:spcAft>
              <a:buNone/>
            </a:pPr>
            <a:r>
              <a:rPr lang="en-GB"/>
              <a:t>  Expected startup output:</a:t>
            </a:r>
            <a:endParaRPr/>
          </a:p>
          <a:p>
            <a:pPr indent="0" lvl="0" marL="0" rtl="0" algn="l">
              <a:lnSpc>
                <a:spcPct val="115000"/>
              </a:lnSpc>
              <a:spcBef>
                <a:spcPts val="0"/>
              </a:spcBef>
              <a:spcAft>
                <a:spcPts val="0"/>
              </a:spcAft>
              <a:buNone/>
            </a:pPr>
            <a:r>
              <a:rPr lang="en-GB"/>
              <a:t>  [1/6] Reading reads file...</a:t>
            </a:r>
            <a:endParaRPr/>
          </a:p>
          <a:p>
            <a:pPr indent="0" lvl="0" marL="0" rtl="0" algn="l">
              <a:lnSpc>
                <a:spcPct val="115000"/>
              </a:lnSpc>
              <a:spcBef>
                <a:spcPts val="0"/>
              </a:spcBef>
              <a:spcAft>
                <a:spcPts val="0"/>
              </a:spcAft>
              <a:buNone/>
            </a:pPr>
            <a:r>
              <a:rPr lang="en-GB"/>
              <a:t>  [2/6] Loading chromosome sequence...</a:t>
            </a:r>
            <a:endParaRPr/>
          </a:p>
          <a:p>
            <a:pPr indent="0" lvl="0" marL="0" rtl="0" algn="l">
              <a:lnSpc>
                <a:spcPct val="115000"/>
              </a:lnSpc>
              <a:spcBef>
                <a:spcPts val="0"/>
              </a:spcBef>
              <a:spcAft>
                <a:spcPts val="0"/>
              </a:spcAft>
              <a:buNone/>
            </a:pPr>
            <a:r>
              <a:rPr lang="en-GB"/>
              <a:t>  [3/6] Loading precomputed cache...  ← instant, no recomputing</a:t>
            </a:r>
            <a:endParaRPr/>
          </a:p>
          <a:p>
            <a:pPr indent="0" lvl="0" marL="0" rtl="0" algn="l">
              <a:lnSpc>
                <a:spcPct val="115000"/>
              </a:lnSpc>
              <a:spcBef>
                <a:spcPts val="0"/>
              </a:spcBef>
              <a:spcAft>
                <a:spcPts val="0"/>
              </a:spcAft>
              <a:buNone/>
            </a:pPr>
            <a:r>
              <a:rPr lang="en-GB"/>
              <a:t>        -&gt; cache loaded instantly!</a:t>
            </a:r>
            <a:endParaRPr/>
          </a:p>
          <a:p>
            <a:pPr indent="0" lvl="0" marL="0" rtl="0" algn="l">
              <a:lnSpc>
                <a:spcPct val="115000"/>
              </a:lnSpc>
              <a:spcBef>
                <a:spcPts val="0"/>
              </a:spcBef>
              <a:spcAft>
                <a:spcPts val="0"/>
              </a:spcAft>
              <a:buNone/>
            </a:pPr>
            <a:r>
              <a:rPr lang="en-GB"/>
              <a:t>  [6/6] All precomputation done — app ready!</a:t>
            </a:r>
            <a:endParaRPr/>
          </a:p>
          <a:p>
            <a:pPr indent="0" lvl="0" marL="0" rtl="0" algn="l">
              <a:lnSpc>
                <a:spcPct val="115000"/>
              </a:lnSpc>
              <a:spcBef>
                <a:spcPts val="0"/>
              </a:spcBef>
              <a:spcAft>
                <a:spcPts val="0"/>
              </a:spcAft>
              <a:buNone/>
            </a:pPr>
            <a:r>
              <a:rPr lang="en-GB"/>
              <a:t>  Listening on http://127.0.0.1:3838</a:t>
            </a:r>
            <a:endParaRPr/>
          </a:p>
          <a:p>
            <a:pPr indent="0" lvl="0" marL="0" rtl="0" algn="l">
              <a:lnSpc>
                <a:spcPct val="115000"/>
              </a:lnSpc>
              <a:spcBef>
                <a:spcPts val="0"/>
              </a:spcBef>
              <a:spcAft>
                <a:spcPts val="0"/>
              </a:spcAft>
              <a:buNone/>
            </a:pPr>
            <a:r>
              <a:rPr lang="en-GB"/>
              <a:t>  </a:t>
            </a:r>
            <a:endParaRPr/>
          </a:p>
          <a:p>
            <a:pPr indent="0" lvl="0" marL="0" rtl="0" algn="l">
              <a:lnSpc>
                <a:spcPct val="115000"/>
              </a:lnSpc>
              <a:spcBef>
                <a:spcPts val="0"/>
              </a:spcBef>
              <a:spcAft>
                <a:spcPts val="0"/>
              </a:spcAft>
              <a:buNone/>
            </a:pPr>
            <a:r>
              <a:rPr lang="en-GB"/>
              <a:t>  To stop it: Ctrl+C in the terminal.</a:t>
            </a:r>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e2a60575ab_1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e2a60575ab_1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e2d89c5bf6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e2d89c5bf6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e2d89c5bf6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e2d89c5bf6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e2d89c5bf6_24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e2d89c5bf6_24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7.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9.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hyperlink" Target="http://127.0.0.1:3838" TargetMode="Externa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127.0.0.1:3838" TargetMode="External"/><Relationship Id="rId4" Type="http://schemas.openxmlformats.org/officeDocument/2006/relationships/image" Target="../media/image2.png"/><Relationship Id="rId5"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comments" Target="../comments/commen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comments" Target="../comments/comment2.xml"/><Relationship Id="rId4" Type="http://schemas.openxmlformats.org/officeDocument/2006/relationships/image" Target="../media/image8.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image" Target="../media/image10.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comments" Target="../comments/comment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ph type="ctrTitle"/>
          </p:nvPr>
        </p:nvSpPr>
        <p:spPr>
          <a:xfrm>
            <a:off x="2215950" y="892900"/>
            <a:ext cx="4712100" cy="1537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sz="5300"/>
              <a:t>Statistics Lab 5</a:t>
            </a:r>
            <a:endParaRPr sz="5300"/>
          </a:p>
        </p:txBody>
      </p:sp>
      <p:sp>
        <p:nvSpPr>
          <p:cNvPr id="87" name="Google Shape;87;p13"/>
          <p:cNvSpPr txBox="1"/>
          <p:nvPr>
            <p:ph idx="1" type="subTitle"/>
          </p:nvPr>
        </p:nvSpPr>
        <p:spPr>
          <a:xfrm>
            <a:off x="3044700" y="2723830"/>
            <a:ext cx="3054600" cy="701400"/>
          </a:xfrm>
          <a:prstGeom prst="rect">
            <a:avLst/>
          </a:prstGeom>
        </p:spPr>
        <p:txBody>
          <a:bodyPr anchorCtr="0" anchor="t" bIns="91425" lIns="91425" spcFirstLastPara="1" rIns="91425" wrap="square" tIns="91425">
            <a:noAutofit/>
          </a:bodyPr>
          <a:lstStyle/>
          <a:p>
            <a:pPr indent="0" lvl="0" marL="0" rtl="0" algn="l">
              <a:lnSpc>
                <a:spcPct val="80000"/>
              </a:lnSpc>
              <a:spcBef>
                <a:spcPts val="0"/>
              </a:spcBef>
              <a:spcAft>
                <a:spcPts val="0"/>
              </a:spcAft>
              <a:buClr>
                <a:schemeClr val="dk1"/>
              </a:buClr>
              <a:buSzPts val="605"/>
              <a:buFont typeface="Arial"/>
              <a:buNone/>
            </a:pPr>
            <a:r>
              <a:rPr lang="en-GB" sz="2280"/>
              <a:t>Shir Tsarfaty</a:t>
            </a:r>
            <a:endParaRPr sz="2280"/>
          </a:p>
          <a:p>
            <a:pPr indent="0" lvl="0" marL="0" rtl="0" algn="l">
              <a:lnSpc>
                <a:spcPct val="80000"/>
              </a:lnSpc>
              <a:spcBef>
                <a:spcPts val="0"/>
              </a:spcBef>
              <a:spcAft>
                <a:spcPts val="0"/>
              </a:spcAft>
              <a:buSzPts val="605"/>
              <a:buNone/>
            </a:pPr>
            <a:r>
              <a:rPr lang="en-GB" sz="2280"/>
              <a:t>Ido Ravid</a:t>
            </a:r>
            <a:endParaRPr sz="2280"/>
          </a:p>
          <a:p>
            <a:pPr indent="0" lvl="0" marL="0" rtl="0" algn="l">
              <a:lnSpc>
                <a:spcPct val="80000"/>
              </a:lnSpc>
              <a:spcBef>
                <a:spcPts val="0"/>
              </a:spcBef>
              <a:spcAft>
                <a:spcPts val="0"/>
              </a:spcAft>
              <a:buSzPts val="605"/>
              <a:buNone/>
            </a:pPr>
            <a:r>
              <a:rPr lang="en-GB" sz="2280"/>
              <a:t>Omer Sutovsky</a:t>
            </a:r>
            <a:endParaRPr sz="228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1" name="Shape 91"/>
        <p:cNvGrpSpPr/>
        <p:nvPr/>
      </p:nvGrpSpPr>
      <p:grpSpPr>
        <a:xfrm>
          <a:off x="0" y="0"/>
          <a:ext cx="0" cy="0"/>
          <a:chOff x="0" y="0"/>
          <a:chExt cx="0" cy="0"/>
        </a:xfrm>
      </p:grpSpPr>
      <p:sp>
        <p:nvSpPr>
          <p:cNvPr id="92" name="Google Shape;92;p14"/>
          <p:cNvSpPr txBox="1"/>
          <p:nvPr>
            <p:ph type="title"/>
          </p:nvPr>
        </p:nvSpPr>
        <p:spPr>
          <a:xfrm>
            <a:off x="468475" y="6080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GB" sz="2740"/>
              <a:t>Goals for this lab</a:t>
            </a:r>
            <a:endParaRPr sz="2740"/>
          </a:p>
        </p:txBody>
      </p:sp>
      <p:sp>
        <p:nvSpPr>
          <p:cNvPr id="93" name="Google Shape;93;p14"/>
          <p:cNvSpPr txBox="1"/>
          <p:nvPr>
            <p:ph idx="1" type="body"/>
          </p:nvPr>
        </p:nvSpPr>
        <p:spPr>
          <a:xfrm>
            <a:off x="272725" y="1516725"/>
            <a:ext cx="8667900" cy="3489900"/>
          </a:xfrm>
          <a:prstGeom prst="rect">
            <a:avLst/>
          </a:prstGeom>
        </p:spPr>
        <p:txBody>
          <a:bodyPr anchorCtr="0" anchor="t" bIns="91425" lIns="91425" spcFirstLastPara="1" rIns="91425" wrap="square" tIns="91425">
            <a:normAutofit/>
          </a:bodyPr>
          <a:lstStyle/>
          <a:p>
            <a:pPr indent="-349250" lvl="0" marL="457200" rtl="0" algn="l">
              <a:spcBef>
                <a:spcPts val="0"/>
              </a:spcBef>
              <a:spcAft>
                <a:spcPts val="0"/>
              </a:spcAft>
              <a:buSzPts val="1900"/>
              <a:buAutoNum type="arabicPeriod"/>
            </a:pPr>
            <a:r>
              <a:rPr b="1" lang="en-GB" sz="1700">
                <a:solidFill>
                  <a:srgbClr val="233A44"/>
                </a:solidFill>
                <a:highlight>
                  <a:srgbClr val="F1F5F9"/>
                </a:highlight>
                <a:latin typeface="Courier New"/>
                <a:ea typeface="Courier New"/>
                <a:cs typeface="Courier New"/>
                <a:sym typeface="Courier New"/>
              </a:rPr>
              <a:t>G+C_content ~ reads</a:t>
            </a:r>
            <a:r>
              <a:rPr lang="en-GB" sz="2100"/>
              <a:t> or  </a:t>
            </a:r>
            <a:r>
              <a:rPr b="1" lang="en-GB" sz="1700">
                <a:solidFill>
                  <a:srgbClr val="233A44"/>
                </a:solidFill>
                <a:highlight>
                  <a:srgbClr val="F1F5F9"/>
                </a:highlight>
                <a:latin typeface="Courier New"/>
                <a:ea typeface="Courier New"/>
                <a:cs typeface="Courier New"/>
                <a:sym typeface="Courier New"/>
              </a:rPr>
              <a:t>G_content~reads</a:t>
            </a:r>
            <a:r>
              <a:rPr lang="en-GB" sz="2100"/>
              <a:t> /</a:t>
            </a:r>
            <a:r>
              <a:rPr b="1" lang="en-GB" sz="1700">
                <a:solidFill>
                  <a:srgbClr val="233A44"/>
                </a:solidFill>
                <a:highlight>
                  <a:srgbClr val="F1F5F9"/>
                </a:highlight>
                <a:latin typeface="Courier New"/>
                <a:ea typeface="Courier New"/>
                <a:cs typeface="Courier New"/>
                <a:sym typeface="Courier New"/>
              </a:rPr>
              <a:t>C_content~reads</a:t>
            </a:r>
            <a:r>
              <a:rPr lang="en-GB" sz="2100"/>
              <a:t> enough?</a:t>
            </a:r>
            <a:endParaRPr sz="2100"/>
          </a:p>
          <a:p>
            <a:pPr indent="-361950" lvl="0" marL="457200" rtl="0" algn="l">
              <a:spcBef>
                <a:spcPts val="0"/>
              </a:spcBef>
              <a:spcAft>
                <a:spcPts val="0"/>
              </a:spcAft>
              <a:buSzPts val="2100"/>
              <a:buAutoNum type="arabicPeriod"/>
            </a:pPr>
            <a:r>
              <a:rPr lang="en-GB" sz="2100"/>
              <a:t>Mapping GC explainability along chromosome</a:t>
            </a:r>
            <a:endParaRPr sz="2100"/>
          </a:p>
          <a:p>
            <a:pPr indent="-361950" lvl="0" marL="457200" rtl="0" algn="l">
              <a:spcBef>
                <a:spcPts val="0"/>
              </a:spcBef>
              <a:spcAft>
                <a:spcPts val="0"/>
              </a:spcAft>
              <a:buSzPts val="2100"/>
              <a:buAutoNum type="arabicPeriod"/>
            </a:pPr>
            <a:r>
              <a:rPr lang="en-GB" sz="2100"/>
              <a:t>Optimal bin size for model</a:t>
            </a:r>
            <a:endParaRPr sz="2100"/>
          </a:p>
          <a:p>
            <a:pPr indent="-361950" lvl="0" marL="457200" rtl="0" algn="l">
              <a:spcBef>
                <a:spcPts val="0"/>
              </a:spcBef>
              <a:spcAft>
                <a:spcPts val="0"/>
              </a:spcAft>
              <a:buSzPts val="2100"/>
              <a:buAutoNum type="arabicPeriod"/>
            </a:pPr>
            <a:r>
              <a:rPr lang="en-GB" sz="2100"/>
              <a:t>Exploring Poisson and </a:t>
            </a:r>
            <a:r>
              <a:rPr lang="en-GB" sz="2100"/>
              <a:t>Pseudo</a:t>
            </a:r>
            <a:r>
              <a:rPr lang="en-GB" sz="2100"/>
              <a:t>-Poisson GLM models</a:t>
            </a:r>
            <a:endParaRPr sz="2100"/>
          </a:p>
          <a:p>
            <a:pPr indent="-361950" lvl="0" marL="457200" rtl="0" algn="l">
              <a:spcBef>
                <a:spcPts val="0"/>
              </a:spcBef>
              <a:spcAft>
                <a:spcPts val="0"/>
              </a:spcAft>
              <a:buSzPts val="2100"/>
              <a:buAutoNum type="arabicPeriod"/>
            </a:pPr>
            <a:r>
              <a:rPr lang="en-GB" sz="2100"/>
              <a:t>AI-First lab experience</a:t>
            </a:r>
            <a:endParaRPr sz="21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pic>
        <p:nvPicPr>
          <p:cNvPr descr="do more of a change" id="98" name="Google Shape;98;p15"/>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2" name="Shape 102"/>
        <p:cNvGrpSpPr/>
        <p:nvPr/>
      </p:nvGrpSpPr>
      <p:grpSpPr>
        <a:xfrm>
          <a:off x="0" y="0"/>
          <a:ext cx="0" cy="0"/>
          <a:chOff x="0" y="0"/>
          <a:chExt cx="0" cy="0"/>
        </a:xfrm>
      </p:grpSpPr>
      <p:sp>
        <p:nvSpPr>
          <p:cNvPr id="103" name="Google Shape;103;p16"/>
          <p:cNvSpPr txBox="1"/>
          <p:nvPr>
            <p:ph type="title"/>
          </p:nvPr>
        </p:nvSpPr>
        <p:spPr>
          <a:xfrm>
            <a:off x="729450" y="58630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Metrics &amp; Estimators selected - Reminder from Lab4</a:t>
            </a:r>
            <a:endParaRPr/>
          </a:p>
        </p:txBody>
      </p:sp>
      <p:sp>
        <p:nvSpPr>
          <p:cNvPr id="104" name="Google Shape;104;p16"/>
          <p:cNvSpPr txBox="1"/>
          <p:nvPr>
            <p:ph idx="1" type="body"/>
          </p:nvPr>
        </p:nvSpPr>
        <p:spPr>
          <a:xfrm>
            <a:off x="628125" y="1473225"/>
            <a:ext cx="7688700" cy="2866800"/>
          </a:xfrm>
          <a:prstGeom prst="rect">
            <a:avLst/>
          </a:prstGeom>
        </p:spPr>
        <p:txBody>
          <a:bodyPr anchorCtr="0" anchor="t" bIns="91425" lIns="91425" spcFirstLastPara="1" rIns="91425" wrap="square" tIns="91425">
            <a:normAutofit/>
          </a:bodyPr>
          <a:lstStyle/>
          <a:p>
            <a:pPr indent="-349250" lvl="0" marL="457200" rtl="0" algn="l">
              <a:spcBef>
                <a:spcPts val="0"/>
              </a:spcBef>
              <a:spcAft>
                <a:spcPts val="0"/>
              </a:spcAft>
              <a:buSzPts val="1900"/>
              <a:buChar char="-"/>
            </a:pPr>
            <a:r>
              <a:rPr lang="en-GB" sz="1900"/>
              <a:t>R²: explained variation / goodness of fit </a:t>
            </a:r>
            <a:endParaRPr sz="1900"/>
          </a:p>
          <a:p>
            <a:pPr indent="-349250" lvl="0" marL="457200" rtl="0" algn="l">
              <a:spcBef>
                <a:spcPts val="0"/>
              </a:spcBef>
              <a:spcAft>
                <a:spcPts val="0"/>
              </a:spcAft>
              <a:buSzPts val="1900"/>
              <a:buChar char="-"/>
            </a:pPr>
            <a:r>
              <a:rPr lang="en-GB" sz="1900"/>
              <a:t>Spearman correlation: robust monotonic relationship  </a:t>
            </a:r>
            <a:endParaRPr sz="1900"/>
          </a:p>
          <a:p>
            <a:pPr indent="-349250" lvl="0" marL="457200" rtl="0" algn="l">
              <a:spcBef>
                <a:spcPts val="0"/>
              </a:spcBef>
              <a:spcAft>
                <a:spcPts val="0"/>
              </a:spcAft>
              <a:buSzPts val="1900"/>
              <a:buChar char="-"/>
            </a:pPr>
            <a:r>
              <a:rPr lang="en-GB" sz="1900"/>
              <a:t>Spearman(X,Y)=Pearson(rank(X),rank(Y))</a:t>
            </a:r>
            <a:endParaRPr sz="1900"/>
          </a:p>
          <a:p>
            <a:pPr indent="-349250" lvl="0" marL="457200" rtl="0" algn="l">
              <a:spcBef>
                <a:spcPts val="0"/>
              </a:spcBef>
              <a:spcAft>
                <a:spcPts val="0"/>
              </a:spcAft>
              <a:buSzPts val="1900"/>
              <a:buChar char="-"/>
            </a:pPr>
            <a:r>
              <a:rPr lang="en-GB" sz="1900"/>
              <a:t>IQR / median error: robust typical spread </a:t>
            </a:r>
            <a:r>
              <a:rPr lang="en-GB" sz="1900"/>
              <a:t>of</a:t>
            </a:r>
            <a:r>
              <a:rPr lang="en-GB" sz="1900"/>
              <a:t> residuals </a:t>
            </a:r>
            <a:endParaRPr sz="1900"/>
          </a:p>
          <a:p>
            <a:pPr indent="-349250" lvl="0" marL="457200" rtl="0" algn="l">
              <a:spcBef>
                <a:spcPts val="0"/>
              </a:spcBef>
              <a:spcAft>
                <a:spcPts val="0"/>
              </a:spcAft>
              <a:buSzPts val="1900"/>
              <a:buChar char="-"/>
            </a:pPr>
            <a:r>
              <a:rPr lang="en-GB" sz="1900"/>
              <a:t>VMR / φ: checks Poisson overdispersion </a:t>
            </a:r>
            <a:endParaRPr sz="19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pic>
        <p:nvPicPr>
          <p:cNvPr descr="improve this slide as well" id="109" name="Google Shape;109;p17"/>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8"/>
          <p:cNvSpPr txBox="1"/>
          <p:nvPr>
            <p:ph type="title"/>
          </p:nvPr>
        </p:nvSpPr>
        <p:spPr>
          <a:xfrm>
            <a:off x="729450" y="586300"/>
            <a:ext cx="7688700" cy="535200"/>
          </a:xfrm>
          <a:prstGeom prst="rect">
            <a:avLst/>
          </a:prstGeom>
        </p:spPr>
        <p:txBody>
          <a:bodyPr anchorCtr="0" anchor="t" bIns="91425" lIns="91425" spcFirstLastPara="1" rIns="91425" wrap="square" tIns="91425">
            <a:normAutofit fontScale="90000"/>
          </a:bodyPr>
          <a:lstStyle/>
          <a:p>
            <a:pPr indent="-377190" lvl="0" marL="457200" rtl="0" algn="l">
              <a:spcBef>
                <a:spcPts val="0"/>
              </a:spcBef>
              <a:spcAft>
                <a:spcPts val="0"/>
              </a:spcAft>
              <a:buSzPct val="100000"/>
              <a:buAutoNum type="alphaUcPeriod"/>
            </a:pPr>
            <a:r>
              <a:rPr lang="en-GB"/>
              <a:t>Predicting Using G, C &amp; G+C</a:t>
            </a:r>
            <a:endParaRPr/>
          </a:p>
        </p:txBody>
      </p:sp>
      <p:graphicFrame>
        <p:nvGraphicFramePr>
          <p:cNvPr id="115" name="Google Shape;115;p18"/>
          <p:cNvGraphicFramePr/>
          <p:nvPr/>
        </p:nvGraphicFramePr>
        <p:xfrm>
          <a:off x="385950" y="1617200"/>
          <a:ext cx="3000000" cy="3000000"/>
        </p:xfrm>
        <a:graphic>
          <a:graphicData uri="http://schemas.openxmlformats.org/drawingml/2006/table">
            <a:tbl>
              <a:tblPr>
                <a:noFill/>
                <a:tableStyleId>{5FF99236-98A0-4587-A767-54F4A6220190}</a:tableStyleId>
              </a:tblPr>
              <a:tblGrid>
                <a:gridCol w="799525"/>
                <a:gridCol w="1063925"/>
                <a:gridCol w="1046025"/>
                <a:gridCol w="817425"/>
              </a:tblGrid>
              <a:tr h="694800">
                <a:tc>
                  <a:txBody>
                    <a:bodyPr/>
                    <a:lstStyle/>
                    <a:p>
                      <a:pPr indent="0" lvl="0" marL="0" rtl="0" algn="l">
                        <a:lnSpc>
                          <a:spcPct val="115000"/>
                        </a:lnSpc>
                        <a:spcBef>
                          <a:spcPts val="0"/>
                        </a:spcBef>
                        <a:spcAft>
                          <a:spcPts val="0"/>
                        </a:spcAft>
                        <a:buNone/>
                      </a:pPr>
                      <a:r>
                        <a:rPr lang="en-GB" sz="1300"/>
                        <a:t>Model</a:t>
                      </a:r>
                      <a:endParaRPr sz="1300"/>
                    </a:p>
                  </a:txBody>
                  <a:tcPr marT="19050" marB="19050" marR="28575" marL="28575" anchor="b">
                    <a:lnL cap="flat" cmpd="sng" w="22850">
                      <a:solidFill>
                        <a:srgbClr val="000000"/>
                      </a:solidFill>
                      <a:prstDash val="solid"/>
                      <a:round/>
                      <a:headEnd len="sm" w="sm" type="none"/>
                      <a:tailEnd len="sm" w="sm" type="none"/>
                    </a:lnL>
                    <a:lnR cap="flat" cmpd="sng" w="22850">
                      <a:solidFill>
                        <a:srgbClr val="000000"/>
                      </a:solidFill>
                      <a:prstDash val="solid"/>
                      <a:round/>
                      <a:headEnd len="sm" w="sm" type="none"/>
                      <a:tailEnd len="sm" w="sm" type="none"/>
                    </a:lnR>
                    <a:lnT cap="flat" cmpd="sng" w="22850">
                      <a:solidFill>
                        <a:srgbClr val="000000"/>
                      </a:solidFill>
                      <a:prstDash val="solid"/>
                      <a:round/>
                      <a:headEnd len="sm" w="sm" type="none"/>
                      <a:tailEnd len="sm" w="sm" type="none"/>
                    </a:lnT>
                    <a:lnB cap="flat" cmpd="sng" w="22850">
                      <a:solidFill>
                        <a:srgbClr val="000000"/>
                      </a:solidFill>
                      <a:prstDash val="solid"/>
                      <a:round/>
                      <a:headEnd len="sm" w="sm" type="none"/>
                      <a:tailEnd len="sm" w="sm" type="none"/>
                    </a:lnB>
                    <a:solidFill>
                      <a:srgbClr val="D9D9D9"/>
                    </a:solidFill>
                  </a:tcPr>
                </a:tc>
                <a:tc>
                  <a:txBody>
                    <a:bodyPr/>
                    <a:lstStyle/>
                    <a:p>
                      <a:pPr indent="0" lvl="0" marL="0" rtl="0" algn="ctr">
                        <a:lnSpc>
                          <a:spcPct val="115000"/>
                        </a:lnSpc>
                        <a:spcBef>
                          <a:spcPts val="0"/>
                        </a:spcBef>
                        <a:spcAft>
                          <a:spcPts val="0"/>
                        </a:spcAft>
                        <a:buNone/>
                      </a:pPr>
                      <a:r>
                        <a:rPr lang="en-GB" sz="1300"/>
                        <a:t>R²</a:t>
                      </a:r>
                      <a:endParaRPr sz="1300"/>
                    </a:p>
                  </a:txBody>
                  <a:tcPr marT="19050" marB="19050" marR="28575" marL="28575" anchor="ctr">
                    <a:lnL cap="flat" cmpd="sng" w="22850">
                      <a:solidFill>
                        <a:srgbClr val="000000"/>
                      </a:solidFill>
                      <a:prstDash val="solid"/>
                      <a:round/>
                      <a:headEnd len="sm" w="sm" type="none"/>
                      <a:tailEnd len="sm" w="sm" type="none"/>
                    </a:lnL>
                    <a:lnR cap="flat" cmpd="sng" w="22850">
                      <a:solidFill>
                        <a:srgbClr val="000000"/>
                      </a:solidFill>
                      <a:prstDash val="solid"/>
                      <a:round/>
                      <a:headEnd len="sm" w="sm" type="none"/>
                      <a:tailEnd len="sm" w="sm" type="none"/>
                    </a:lnR>
                    <a:lnT cap="flat" cmpd="sng" w="22850">
                      <a:solidFill>
                        <a:srgbClr val="000000"/>
                      </a:solidFill>
                      <a:prstDash val="solid"/>
                      <a:round/>
                      <a:headEnd len="sm" w="sm" type="none"/>
                      <a:tailEnd len="sm" w="sm" type="none"/>
                    </a:lnT>
                    <a:lnB cap="flat" cmpd="sng" w="22850">
                      <a:solidFill>
                        <a:srgbClr val="000000"/>
                      </a:solidFill>
                      <a:prstDash val="solid"/>
                      <a:round/>
                      <a:headEnd len="sm" w="sm" type="none"/>
                      <a:tailEnd len="sm" w="sm" type="none"/>
                    </a:lnB>
                    <a:solidFill>
                      <a:srgbClr val="D9D9D9"/>
                    </a:solidFill>
                  </a:tcPr>
                </a:tc>
                <a:tc>
                  <a:txBody>
                    <a:bodyPr/>
                    <a:lstStyle/>
                    <a:p>
                      <a:pPr indent="0" lvl="0" marL="0" rtl="0" algn="ctr">
                        <a:lnSpc>
                          <a:spcPct val="115000"/>
                        </a:lnSpc>
                        <a:spcBef>
                          <a:spcPts val="0"/>
                        </a:spcBef>
                        <a:spcAft>
                          <a:spcPts val="0"/>
                        </a:spcAft>
                        <a:buNone/>
                      </a:pPr>
                      <a:r>
                        <a:rPr lang="en-GB" sz="1300"/>
                        <a:t>Spearman</a:t>
                      </a:r>
                      <a:endParaRPr sz="1300"/>
                    </a:p>
                  </a:txBody>
                  <a:tcPr marT="19050" marB="19050" marR="28575" marL="28575" anchor="ctr">
                    <a:lnL cap="flat" cmpd="sng" w="22850">
                      <a:solidFill>
                        <a:srgbClr val="000000"/>
                      </a:solidFill>
                      <a:prstDash val="solid"/>
                      <a:round/>
                      <a:headEnd len="sm" w="sm" type="none"/>
                      <a:tailEnd len="sm" w="sm" type="none"/>
                    </a:lnL>
                    <a:lnR cap="flat" cmpd="sng" w="22850">
                      <a:solidFill>
                        <a:srgbClr val="000000"/>
                      </a:solidFill>
                      <a:prstDash val="solid"/>
                      <a:round/>
                      <a:headEnd len="sm" w="sm" type="none"/>
                      <a:tailEnd len="sm" w="sm" type="none"/>
                    </a:lnR>
                    <a:lnT cap="flat" cmpd="sng" w="22850">
                      <a:solidFill>
                        <a:srgbClr val="000000"/>
                      </a:solidFill>
                      <a:prstDash val="solid"/>
                      <a:round/>
                      <a:headEnd len="sm" w="sm" type="none"/>
                      <a:tailEnd len="sm" w="sm" type="none"/>
                    </a:lnT>
                    <a:lnB cap="flat" cmpd="sng" w="22850">
                      <a:solidFill>
                        <a:srgbClr val="000000"/>
                      </a:solidFill>
                      <a:prstDash val="solid"/>
                      <a:round/>
                      <a:headEnd len="sm" w="sm" type="none"/>
                      <a:tailEnd len="sm" w="sm" type="none"/>
                    </a:lnB>
                    <a:solidFill>
                      <a:srgbClr val="D9D9D9"/>
                    </a:solidFill>
                  </a:tcPr>
                </a:tc>
                <a:tc>
                  <a:txBody>
                    <a:bodyPr/>
                    <a:lstStyle/>
                    <a:p>
                      <a:pPr indent="0" lvl="0" marL="0" rtl="0" algn="ctr">
                        <a:lnSpc>
                          <a:spcPct val="115000"/>
                        </a:lnSpc>
                        <a:spcBef>
                          <a:spcPts val="0"/>
                        </a:spcBef>
                        <a:spcAft>
                          <a:spcPts val="0"/>
                        </a:spcAft>
                        <a:buNone/>
                      </a:pPr>
                      <a:r>
                        <a:rPr lang="en-GB" sz="1200"/>
                        <a:t>Median Absolute Error</a:t>
                      </a:r>
                      <a:endParaRPr sz="1200"/>
                    </a:p>
                  </a:txBody>
                  <a:tcPr marT="19050" marB="19050" marR="28575" marL="28575" anchor="b">
                    <a:lnL cap="flat" cmpd="sng" w="22850">
                      <a:solidFill>
                        <a:srgbClr val="000000"/>
                      </a:solidFill>
                      <a:prstDash val="solid"/>
                      <a:round/>
                      <a:headEnd len="sm" w="sm" type="none"/>
                      <a:tailEnd len="sm" w="sm" type="none"/>
                    </a:lnL>
                    <a:lnR cap="flat" cmpd="sng" w="22850">
                      <a:solidFill>
                        <a:srgbClr val="000000"/>
                      </a:solidFill>
                      <a:prstDash val="solid"/>
                      <a:round/>
                      <a:headEnd len="sm" w="sm" type="none"/>
                      <a:tailEnd len="sm" w="sm" type="none"/>
                    </a:lnR>
                    <a:lnT cap="flat" cmpd="sng" w="22850">
                      <a:solidFill>
                        <a:srgbClr val="000000"/>
                      </a:solidFill>
                      <a:prstDash val="solid"/>
                      <a:round/>
                      <a:headEnd len="sm" w="sm" type="none"/>
                      <a:tailEnd len="sm" w="sm" type="none"/>
                    </a:lnT>
                    <a:lnB cap="flat" cmpd="sng" w="22850">
                      <a:solidFill>
                        <a:srgbClr val="000000"/>
                      </a:solidFill>
                      <a:prstDash val="solid"/>
                      <a:round/>
                      <a:headEnd len="sm" w="sm" type="none"/>
                      <a:tailEnd len="sm" w="sm" type="none"/>
                    </a:lnB>
                    <a:solidFill>
                      <a:srgbClr val="D9D9D9"/>
                    </a:solidFill>
                  </a:tcPr>
                </a:tc>
              </a:tr>
              <a:tr h="537375">
                <a:tc>
                  <a:txBody>
                    <a:bodyPr/>
                    <a:lstStyle/>
                    <a:p>
                      <a:pPr indent="0" lvl="0" marL="0" rtl="0" algn="l">
                        <a:lnSpc>
                          <a:spcPct val="115000"/>
                        </a:lnSpc>
                        <a:spcBef>
                          <a:spcPts val="0"/>
                        </a:spcBef>
                        <a:spcAft>
                          <a:spcPts val="0"/>
                        </a:spcAft>
                        <a:buNone/>
                      </a:pPr>
                      <a:r>
                        <a:rPr lang="en-GB" sz="1300"/>
                        <a:t>G Alone</a:t>
                      </a:r>
                      <a:endParaRPr sz="1300"/>
                    </a:p>
                  </a:txBody>
                  <a:tcPr marT="19050" marB="19050" marR="28575" marL="28575" anchor="b">
                    <a:lnL cap="flat" cmpd="sng" w="22850">
                      <a:solidFill>
                        <a:srgbClr val="000000"/>
                      </a:solidFill>
                      <a:prstDash val="solid"/>
                      <a:round/>
                      <a:headEnd len="sm" w="sm" type="none"/>
                      <a:tailEnd len="sm" w="sm" type="none"/>
                    </a:lnL>
                    <a:lnR cap="flat" cmpd="sng" w="22850">
                      <a:solidFill>
                        <a:srgbClr val="000000"/>
                      </a:solidFill>
                      <a:prstDash val="solid"/>
                      <a:round/>
                      <a:headEnd len="sm" w="sm" type="none"/>
                      <a:tailEnd len="sm" w="sm" type="none"/>
                    </a:lnR>
                    <a:lnT cap="flat" cmpd="sng" w="22850">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D9D9D9"/>
                    </a:solidFill>
                  </a:tcPr>
                </a:tc>
                <a:tc>
                  <a:txBody>
                    <a:bodyPr/>
                    <a:lstStyle/>
                    <a:p>
                      <a:pPr indent="0" lvl="0" marL="0" rtl="0" algn="r">
                        <a:lnSpc>
                          <a:spcPct val="115000"/>
                        </a:lnSpc>
                        <a:spcBef>
                          <a:spcPts val="0"/>
                        </a:spcBef>
                        <a:spcAft>
                          <a:spcPts val="0"/>
                        </a:spcAft>
                        <a:buNone/>
                      </a:pPr>
                      <a:r>
                        <a:rPr lang="en-GB" sz="1300"/>
                        <a:t>0.5267</a:t>
                      </a:r>
                      <a:endParaRPr sz="1300"/>
                    </a:p>
                  </a:txBody>
                  <a:tcPr marT="19050" marB="19050" marR="28575" marL="28575" anchor="b">
                    <a:lnL cap="flat" cmpd="sng" w="22850">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22850">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B7E1CD"/>
                    </a:solidFill>
                  </a:tcPr>
                </a:tc>
                <a:tc>
                  <a:txBody>
                    <a:bodyPr/>
                    <a:lstStyle/>
                    <a:p>
                      <a:pPr indent="0" lvl="0" marL="0" rtl="0" algn="r">
                        <a:lnSpc>
                          <a:spcPct val="115000"/>
                        </a:lnSpc>
                        <a:spcBef>
                          <a:spcPts val="0"/>
                        </a:spcBef>
                        <a:spcAft>
                          <a:spcPts val="0"/>
                        </a:spcAft>
                        <a:buNone/>
                      </a:pPr>
                      <a:r>
                        <a:rPr lang="en-GB" sz="1300"/>
                        <a:t>0.7621</a:t>
                      </a:r>
                      <a:endParaRPr sz="13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22850">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B6D7A8"/>
                    </a:solidFill>
                  </a:tcPr>
                </a:tc>
                <a:tc>
                  <a:txBody>
                    <a:bodyPr/>
                    <a:lstStyle/>
                    <a:p>
                      <a:pPr indent="0" lvl="0" marL="0" rtl="0" algn="r">
                        <a:lnSpc>
                          <a:spcPct val="115000"/>
                        </a:lnSpc>
                        <a:spcBef>
                          <a:spcPts val="0"/>
                        </a:spcBef>
                        <a:spcAft>
                          <a:spcPts val="0"/>
                        </a:spcAft>
                        <a:buNone/>
                      </a:pPr>
                      <a:r>
                        <a:rPr lang="en-GB" sz="1300"/>
                        <a:t>21.18</a:t>
                      </a:r>
                      <a:endParaRPr sz="13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22850">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9FC5E8"/>
                    </a:solidFill>
                  </a:tcPr>
                </a:tc>
              </a:tr>
              <a:tr h="537375">
                <a:tc>
                  <a:txBody>
                    <a:bodyPr/>
                    <a:lstStyle/>
                    <a:p>
                      <a:pPr indent="0" lvl="0" marL="0" rtl="0" algn="l">
                        <a:lnSpc>
                          <a:spcPct val="115000"/>
                        </a:lnSpc>
                        <a:spcBef>
                          <a:spcPts val="0"/>
                        </a:spcBef>
                        <a:spcAft>
                          <a:spcPts val="0"/>
                        </a:spcAft>
                        <a:buNone/>
                      </a:pPr>
                      <a:r>
                        <a:rPr lang="en-GB" sz="1300"/>
                        <a:t>C Alone</a:t>
                      </a:r>
                      <a:endParaRPr sz="1300"/>
                    </a:p>
                  </a:txBody>
                  <a:tcPr marT="19050" marB="19050" marR="28575" marL="28575" anchor="b">
                    <a:lnL cap="flat" cmpd="sng" w="22850">
                      <a:solidFill>
                        <a:srgbClr val="000000"/>
                      </a:solidFill>
                      <a:prstDash val="solid"/>
                      <a:round/>
                      <a:headEnd len="sm" w="sm" type="none"/>
                      <a:tailEnd len="sm" w="sm" type="none"/>
                    </a:lnL>
                    <a:lnR cap="flat" cmpd="sng" w="22850">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D9D9D9"/>
                    </a:solidFill>
                  </a:tcPr>
                </a:tc>
                <a:tc>
                  <a:txBody>
                    <a:bodyPr/>
                    <a:lstStyle/>
                    <a:p>
                      <a:pPr indent="0" lvl="0" marL="0" rtl="0" algn="r">
                        <a:lnSpc>
                          <a:spcPct val="115000"/>
                        </a:lnSpc>
                        <a:spcBef>
                          <a:spcPts val="0"/>
                        </a:spcBef>
                        <a:spcAft>
                          <a:spcPts val="0"/>
                        </a:spcAft>
                        <a:buNone/>
                      </a:pPr>
                      <a:r>
                        <a:rPr lang="en-GB" sz="1300"/>
                        <a:t>0.5299</a:t>
                      </a:r>
                      <a:endParaRPr sz="1300"/>
                    </a:p>
                  </a:txBody>
                  <a:tcPr marT="19050" marB="19050" marR="28575" marL="28575" anchor="b">
                    <a:lnL cap="flat" cmpd="sng" w="22850">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B6E1CC"/>
                    </a:solidFill>
                  </a:tcPr>
                </a:tc>
                <a:tc>
                  <a:txBody>
                    <a:bodyPr/>
                    <a:lstStyle/>
                    <a:p>
                      <a:pPr indent="0" lvl="0" marL="0" rtl="0" algn="r">
                        <a:lnSpc>
                          <a:spcPct val="115000"/>
                        </a:lnSpc>
                        <a:spcBef>
                          <a:spcPts val="0"/>
                        </a:spcBef>
                        <a:spcAft>
                          <a:spcPts val="0"/>
                        </a:spcAft>
                        <a:buNone/>
                      </a:pPr>
                      <a:r>
                        <a:rPr lang="en-GB" sz="1300"/>
                        <a:t>0.7551</a:t>
                      </a:r>
                      <a:endParaRPr sz="13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B6D7A8"/>
                    </a:solidFill>
                  </a:tcPr>
                </a:tc>
                <a:tc>
                  <a:txBody>
                    <a:bodyPr/>
                    <a:lstStyle/>
                    <a:p>
                      <a:pPr indent="0" lvl="0" marL="0" rtl="0" algn="r">
                        <a:lnSpc>
                          <a:spcPct val="115000"/>
                        </a:lnSpc>
                        <a:spcBef>
                          <a:spcPts val="0"/>
                        </a:spcBef>
                        <a:spcAft>
                          <a:spcPts val="0"/>
                        </a:spcAft>
                        <a:buNone/>
                      </a:pPr>
                      <a:r>
                        <a:rPr lang="en-GB" sz="1300"/>
                        <a:t>21.76</a:t>
                      </a:r>
                      <a:endParaRPr sz="13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9FC5E8"/>
                    </a:solidFill>
                  </a:tcPr>
                </a:tc>
              </a:tr>
              <a:tr h="537375">
                <a:tc>
                  <a:txBody>
                    <a:bodyPr/>
                    <a:lstStyle/>
                    <a:p>
                      <a:pPr indent="0" lvl="0" marL="0" rtl="0" algn="l">
                        <a:lnSpc>
                          <a:spcPct val="115000"/>
                        </a:lnSpc>
                        <a:spcBef>
                          <a:spcPts val="0"/>
                        </a:spcBef>
                        <a:spcAft>
                          <a:spcPts val="0"/>
                        </a:spcAft>
                        <a:buNone/>
                      </a:pPr>
                      <a:r>
                        <a:rPr lang="en-GB" sz="1300"/>
                        <a:t>G+C</a:t>
                      </a:r>
                      <a:endParaRPr sz="1300"/>
                    </a:p>
                  </a:txBody>
                  <a:tcPr marT="19050" marB="19050" marR="28575" marL="28575" anchor="b">
                    <a:lnL cap="flat" cmpd="sng" w="22850">
                      <a:solidFill>
                        <a:srgbClr val="000000"/>
                      </a:solidFill>
                      <a:prstDash val="solid"/>
                      <a:round/>
                      <a:headEnd len="sm" w="sm" type="none"/>
                      <a:tailEnd len="sm" w="sm" type="none"/>
                    </a:lnL>
                    <a:lnR cap="flat" cmpd="sng" w="22850">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22850">
                      <a:solidFill>
                        <a:srgbClr val="000000"/>
                      </a:solidFill>
                      <a:prstDash val="solid"/>
                      <a:round/>
                      <a:headEnd len="sm" w="sm" type="none"/>
                      <a:tailEnd len="sm" w="sm" type="none"/>
                    </a:lnB>
                    <a:solidFill>
                      <a:srgbClr val="D9D9D9"/>
                    </a:solidFill>
                  </a:tcPr>
                </a:tc>
                <a:tc>
                  <a:txBody>
                    <a:bodyPr/>
                    <a:lstStyle/>
                    <a:p>
                      <a:pPr indent="0" lvl="0" marL="0" rtl="0" algn="r">
                        <a:lnSpc>
                          <a:spcPct val="115000"/>
                        </a:lnSpc>
                        <a:spcBef>
                          <a:spcPts val="0"/>
                        </a:spcBef>
                        <a:spcAft>
                          <a:spcPts val="0"/>
                        </a:spcAft>
                        <a:buNone/>
                      </a:pPr>
                      <a:r>
                        <a:rPr lang="en-GB" sz="1300"/>
                        <a:t>0.6973</a:t>
                      </a:r>
                      <a:endParaRPr sz="1300"/>
                    </a:p>
                  </a:txBody>
                  <a:tcPr marT="19050" marB="19050" marR="28575" marL="28575" anchor="b">
                    <a:lnL cap="flat" cmpd="sng" w="22850">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57BB8A"/>
                    </a:solidFill>
                  </a:tcPr>
                </a:tc>
                <a:tc>
                  <a:txBody>
                    <a:bodyPr/>
                    <a:lstStyle/>
                    <a:p>
                      <a:pPr indent="0" lvl="0" marL="0" rtl="0" algn="r">
                        <a:lnSpc>
                          <a:spcPct val="115000"/>
                        </a:lnSpc>
                        <a:spcBef>
                          <a:spcPts val="0"/>
                        </a:spcBef>
                        <a:spcAft>
                          <a:spcPts val="0"/>
                        </a:spcAft>
                        <a:buNone/>
                      </a:pPr>
                      <a:r>
                        <a:rPr lang="en-GB" sz="1300"/>
                        <a:t>0.8897</a:t>
                      </a:r>
                      <a:endParaRPr sz="13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93C47D"/>
                    </a:solidFill>
                  </a:tcPr>
                </a:tc>
                <a:tc>
                  <a:txBody>
                    <a:bodyPr/>
                    <a:lstStyle/>
                    <a:p>
                      <a:pPr indent="0" lvl="0" marL="0" rtl="0" algn="r">
                        <a:lnSpc>
                          <a:spcPct val="115000"/>
                        </a:lnSpc>
                        <a:spcBef>
                          <a:spcPts val="0"/>
                        </a:spcBef>
                        <a:spcAft>
                          <a:spcPts val="0"/>
                        </a:spcAft>
                        <a:buNone/>
                      </a:pPr>
                      <a:r>
                        <a:rPr lang="en-GB" sz="1300"/>
                        <a:t>14.03</a:t>
                      </a:r>
                      <a:endParaRPr sz="1300"/>
                    </a:p>
                  </a:txBody>
                  <a:tcPr marT="19050" marB="19050" marR="28575" marL="28575" anchor="b">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6FA8DC"/>
                    </a:solidFill>
                  </a:tcPr>
                </a:tc>
              </a:tr>
            </a:tbl>
          </a:graphicData>
        </a:graphic>
      </p:graphicFrame>
      <p:pic>
        <p:nvPicPr>
          <p:cNvPr id="116" name="Google Shape;116;p18"/>
          <p:cNvPicPr preferRelativeResize="0"/>
          <p:nvPr/>
        </p:nvPicPr>
        <p:blipFill>
          <a:blip r:embed="rId3">
            <a:alphaModFix/>
          </a:blip>
          <a:stretch>
            <a:fillRect/>
          </a:stretch>
        </p:blipFill>
        <p:spPr>
          <a:xfrm>
            <a:off x="4219575" y="996236"/>
            <a:ext cx="4838476" cy="414726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9"/>
          <p:cNvSpPr txBox="1"/>
          <p:nvPr>
            <p:ph type="title"/>
          </p:nvPr>
        </p:nvSpPr>
        <p:spPr>
          <a:xfrm>
            <a:off x="729450" y="58630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B.</a:t>
            </a:r>
            <a:r>
              <a:rPr lang="en-GB"/>
              <a:t> </a:t>
            </a:r>
            <a:r>
              <a:rPr lang="en-GB"/>
              <a:t>GC explainability along chromosome</a:t>
            </a:r>
            <a:endParaRPr/>
          </a:p>
          <a:p>
            <a:pPr indent="0" lvl="0" marL="0" rtl="0" algn="l">
              <a:spcBef>
                <a:spcPts val="0"/>
              </a:spcBef>
              <a:spcAft>
                <a:spcPts val="0"/>
              </a:spcAft>
              <a:buNone/>
            </a:pPr>
            <a:r>
              <a:t/>
            </a:r>
            <a:endParaRPr/>
          </a:p>
        </p:txBody>
      </p:sp>
      <p:sp>
        <p:nvSpPr>
          <p:cNvPr id="122" name="Google Shape;122;p19"/>
          <p:cNvSpPr txBox="1"/>
          <p:nvPr>
            <p:ph idx="1" type="body"/>
          </p:nvPr>
        </p:nvSpPr>
        <p:spPr>
          <a:xfrm>
            <a:off x="720946" y="1473225"/>
            <a:ext cx="7688700" cy="28668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GB" u="sng">
                <a:solidFill>
                  <a:schemeClr val="hlink"/>
                </a:solidFill>
                <a:hlinkClick r:id="rId3"/>
              </a:rPr>
              <a:t>Shiny App Port Link</a:t>
            </a:r>
            <a:endParaRPr/>
          </a:p>
        </p:txBody>
      </p:sp>
      <p:pic>
        <p:nvPicPr>
          <p:cNvPr id="123" name="Google Shape;123;p19"/>
          <p:cNvPicPr preferRelativeResize="0"/>
          <p:nvPr/>
        </p:nvPicPr>
        <p:blipFill>
          <a:blip r:embed="rId4">
            <a:alphaModFix/>
          </a:blip>
          <a:stretch>
            <a:fillRect/>
          </a:stretch>
        </p:blipFill>
        <p:spPr>
          <a:xfrm>
            <a:off x="647700" y="1856575"/>
            <a:ext cx="7761951" cy="32341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0"/>
          <p:cNvSpPr txBox="1"/>
          <p:nvPr>
            <p:ph type="title"/>
          </p:nvPr>
        </p:nvSpPr>
        <p:spPr>
          <a:xfrm>
            <a:off x="729450" y="58630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C. </a:t>
            </a:r>
            <a:r>
              <a:rPr lang="en-GB"/>
              <a:t>Optimal bin size for model</a:t>
            </a:r>
            <a:endParaRPr b="0" sz="1900">
              <a:solidFill>
                <a:schemeClr val="accent1"/>
              </a:solidFill>
              <a:latin typeface="Lato"/>
              <a:ea typeface="Lato"/>
              <a:cs typeface="Lato"/>
              <a:sym typeface="Lato"/>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29" name="Google Shape;129;p20"/>
          <p:cNvSpPr txBox="1"/>
          <p:nvPr>
            <p:ph idx="1" type="body"/>
          </p:nvPr>
        </p:nvSpPr>
        <p:spPr>
          <a:xfrm>
            <a:off x="720946" y="1473225"/>
            <a:ext cx="7688700" cy="28668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GB" u="sng">
                <a:solidFill>
                  <a:schemeClr val="hlink"/>
                </a:solidFill>
                <a:hlinkClick r:id="rId3"/>
              </a:rPr>
              <a:t>Shiny App Port Link</a:t>
            </a:r>
            <a:endParaRPr/>
          </a:p>
        </p:txBody>
      </p:sp>
      <p:pic>
        <p:nvPicPr>
          <p:cNvPr id="130" name="Google Shape;130;p20"/>
          <p:cNvPicPr preferRelativeResize="0"/>
          <p:nvPr/>
        </p:nvPicPr>
        <p:blipFill>
          <a:blip r:embed="rId4">
            <a:alphaModFix/>
          </a:blip>
          <a:stretch>
            <a:fillRect/>
          </a:stretch>
        </p:blipFill>
        <p:spPr>
          <a:xfrm>
            <a:off x="5591170" y="1647825"/>
            <a:ext cx="3400430" cy="2833700"/>
          </a:xfrm>
          <a:prstGeom prst="rect">
            <a:avLst/>
          </a:prstGeom>
          <a:noFill/>
          <a:ln>
            <a:noFill/>
          </a:ln>
        </p:spPr>
      </p:pic>
      <p:pic>
        <p:nvPicPr>
          <p:cNvPr id="131" name="Google Shape;131;p20"/>
          <p:cNvPicPr preferRelativeResize="0"/>
          <p:nvPr/>
        </p:nvPicPr>
        <p:blipFill>
          <a:blip r:embed="rId5">
            <a:alphaModFix/>
          </a:blip>
          <a:stretch>
            <a:fillRect/>
          </a:stretch>
        </p:blipFill>
        <p:spPr>
          <a:xfrm>
            <a:off x="142875" y="1867925"/>
            <a:ext cx="5356251" cy="24721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1"/>
          <p:cNvSpPr txBox="1"/>
          <p:nvPr>
            <p:ph type="title"/>
          </p:nvPr>
        </p:nvSpPr>
        <p:spPr>
          <a:xfrm>
            <a:off x="729450" y="58630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D. </a:t>
            </a:r>
            <a:r>
              <a:rPr lang="en-GB"/>
              <a:t>Poisson and Pseudo-Poisson GLM models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pic>
        <p:nvPicPr>
          <p:cNvPr id="137" name="Google Shape;137;p21"/>
          <p:cNvPicPr preferRelativeResize="0"/>
          <p:nvPr/>
        </p:nvPicPr>
        <p:blipFill>
          <a:blip r:embed="rId3">
            <a:alphaModFix/>
          </a:blip>
          <a:stretch>
            <a:fillRect/>
          </a:stretch>
        </p:blipFill>
        <p:spPr>
          <a:xfrm>
            <a:off x="4509100" y="1265775"/>
            <a:ext cx="4678401" cy="3363261"/>
          </a:xfrm>
          <a:prstGeom prst="rect">
            <a:avLst/>
          </a:prstGeom>
          <a:noFill/>
          <a:ln>
            <a:noFill/>
          </a:ln>
        </p:spPr>
      </p:pic>
      <p:pic>
        <p:nvPicPr>
          <p:cNvPr id="138" name="Google Shape;138;p21"/>
          <p:cNvPicPr preferRelativeResize="0"/>
          <p:nvPr/>
        </p:nvPicPr>
        <p:blipFill>
          <a:blip r:embed="rId4">
            <a:alphaModFix/>
          </a:blip>
          <a:stretch>
            <a:fillRect/>
          </a:stretch>
        </p:blipFill>
        <p:spPr>
          <a:xfrm>
            <a:off x="0" y="1594650"/>
            <a:ext cx="4509101" cy="270548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42" name="Shape 142"/>
        <p:cNvGrpSpPr/>
        <p:nvPr/>
      </p:nvGrpSpPr>
      <p:grpSpPr>
        <a:xfrm>
          <a:off x="0" y="0"/>
          <a:ext cx="0" cy="0"/>
          <a:chOff x="0" y="0"/>
          <a:chExt cx="0" cy="0"/>
        </a:xfrm>
      </p:grpSpPr>
      <p:sp>
        <p:nvSpPr>
          <p:cNvPr id="143" name="Google Shape;143;p22"/>
          <p:cNvSpPr txBox="1"/>
          <p:nvPr>
            <p:ph type="title"/>
          </p:nvPr>
        </p:nvSpPr>
        <p:spPr>
          <a:xfrm>
            <a:off x="729450" y="58630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E. AI First Approach</a:t>
            </a:r>
            <a:endParaRPr/>
          </a:p>
        </p:txBody>
      </p:sp>
      <p:sp>
        <p:nvSpPr>
          <p:cNvPr id="144" name="Google Shape;144;p22"/>
          <p:cNvSpPr txBox="1"/>
          <p:nvPr>
            <p:ph idx="1" type="body"/>
          </p:nvPr>
        </p:nvSpPr>
        <p:spPr>
          <a:xfrm>
            <a:off x="181275" y="1331700"/>
            <a:ext cx="4203300" cy="3566100"/>
          </a:xfrm>
          <a:prstGeom prst="rect">
            <a:avLst/>
          </a:prstGeom>
        </p:spPr>
        <p:txBody>
          <a:bodyPr anchorCtr="0" anchor="t" bIns="91425" lIns="91425" spcFirstLastPara="1" rIns="91425" wrap="square" tIns="91425">
            <a:normAutofit lnSpcReduction="10000"/>
          </a:bodyPr>
          <a:lstStyle/>
          <a:p>
            <a:pPr indent="-336550" lvl="0" marL="457200" rtl="0" algn="l">
              <a:spcBef>
                <a:spcPts val="0"/>
              </a:spcBef>
              <a:spcAft>
                <a:spcPts val="0"/>
              </a:spcAft>
              <a:buSzPts val="1700"/>
              <a:buChar char="-"/>
            </a:pPr>
            <a:r>
              <a:rPr lang="en-GB" sz="1700"/>
              <a:t>How we used AI:</a:t>
            </a:r>
            <a:endParaRPr sz="1700"/>
          </a:p>
          <a:p>
            <a:pPr indent="-336550" lvl="1" marL="914400" rtl="0" algn="l">
              <a:spcBef>
                <a:spcPts val="0"/>
              </a:spcBef>
              <a:spcAft>
                <a:spcPts val="0"/>
              </a:spcAft>
              <a:buSzPts val="1700"/>
              <a:buChar char="-"/>
            </a:pPr>
            <a:r>
              <a:rPr lang="en-GB" sz="1700"/>
              <a:t>Planning </a:t>
            </a:r>
            <a:endParaRPr sz="1700"/>
          </a:p>
          <a:p>
            <a:pPr indent="-336550" lvl="1" marL="914400" rtl="0" algn="l">
              <a:spcBef>
                <a:spcPts val="0"/>
              </a:spcBef>
              <a:spcAft>
                <a:spcPts val="0"/>
              </a:spcAft>
              <a:buSzPts val="1700"/>
              <a:buChar char="-"/>
            </a:pPr>
            <a:r>
              <a:rPr lang="en-GB" sz="1700"/>
              <a:t>Implementing - shiny app</a:t>
            </a:r>
            <a:endParaRPr sz="1700"/>
          </a:p>
          <a:p>
            <a:pPr indent="-336550" lvl="1" marL="914400" rtl="0" algn="l">
              <a:spcBef>
                <a:spcPts val="0"/>
              </a:spcBef>
              <a:spcAft>
                <a:spcPts val="0"/>
              </a:spcAft>
              <a:buSzPts val="1700"/>
              <a:buChar char="-"/>
            </a:pPr>
            <a:r>
              <a:rPr lang="en-GB" sz="1700"/>
              <a:t>Analysing </a:t>
            </a:r>
            <a:endParaRPr sz="1700"/>
          </a:p>
          <a:p>
            <a:pPr indent="-336550" lvl="0" marL="457200" rtl="0" algn="l">
              <a:spcBef>
                <a:spcPts val="0"/>
              </a:spcBef>
              <a:spcAft>
                <a:spcPts val="0"/>
              </a:spcAft>
              <a:buSzPts val="1700"/>
              <a:buChar char="-"/>
            </a:pPr>
            <a:r>
              <a:rPr lang="en-GB" sz="1700"/>
              <a:t>Pros:</a:t>
            </a:r>
            <a:endParaRPr sz="1700"/>
          </a:p>
          <a:p>
            <a:pPr indent="-336550" lvl="1" marL="914400" rtl="0" algn="l">
              <a:spcBef>
                <a:spcPts val="0"/>
              </a:spcBef>
              <a:spcAft>
                <a:spcPts val="0"/>
              </a:spcAft>
              <a:buSzPts val="1700"/>
              <a:buChar char="-"/>
            </a:pPr>
            <a:r>
              <a:rPr lang="en-GB" sz="1700"/>
              <a:t>Better decisions driven by expertise (statistics, biology)</a:t>
            </a:r>
            <a:endParaRPr sz="1700"/>
          </a:p>
          <a:p>
            <a:pPr indent="-336550" lvl="1" marL="914400" rtl="0" algn="l">
              <a:spcBef>
                <a:spcPts val="0"/>
              </a:spcBef>
              <a:spcAft>
                <a:spcPts val="0"/>
              </a:spcAft>
              <a:buSzPts val="1700"/>
              <a:buChar char="-"/>
            </a:pPr>
            <a:r>
              <a:rPr lang="en-GB" sz="1700"/>
              <a:t>Creative ideas we didn’t think of</a:t>
            </a:r>
            <a:endParaRPr sz="1700"/>
          </a:p>
          <a:p>
            <a:pPr indent="-336550" lvl="0" marL="457200" rtl="0" algn="l">
              <a:spcBef>
                <a:spcPts val="0"/>
              </a:spcBef>
              <a:spcAft>
                <a:spcPts val="0"/>
              </a:spcAft>
              <a:buSzPts val="1700"/>
              <a:buChar char="-"/>
            </a:pPr>
            <a:r>
              <a:rPr lang="en-GB" sz="1700"/>
              <a:t>Cons:</a:t>
            </a:r>
            <a:endParaRPr sz="1700"/>
          </a:p>
          <a:p>
            <a:pPr indent="-336550" lvl="1" marL="914400" rtl="0" algn="l">
              <a:spcBef>
                <a:spcPts val="0"/>
              </a:spcBef>
              <a:spcAft>
                <a:spcPts val="0"/>
              </a:spcAft>
              <a:buSzPts val="1700"/>
              <a:buChar char="-"/>
            </a:pPr>
            <a:r>
              <a:rPr lang="en-GB" sz="1700"/>
              <a:t>Bad at visualizing</a:t>
            </a:r>
            <a:endParaRPr sz="1700"/>
          </a:p>
          <a:p>
            <a:pPr indent="-336550" lvl="1" marL="914400" rtl="0" algn="l">
              <a:spcBef>
                <a:spcPts val="0"/>
              </a:spcBef>
              <a:spcAft>
                <a:spcPts val="0"/>
              </a:spcAft>
              <a:buSzPts val="1700"/>
              <a:buChar char="-"/>
            </a:pPr>
            <a:r>
              <a:rPr lang="en-GB" sz="1700"/>
              <a:t>Less familiarity with codebase</a:t>
            </a:r>
            <a:endParaRPr sz="1700"/>
          </a:p>
          <a:p>
            <a:pPr indent="-336550" lvl="1" marL="914400" rtl="0" algn="l">
              <a:spcBef>
                <a:spcPts val="0"/>
              </a:spcBef>
              <a:spcAft>
                <a:spcPts val="0"/>
              </a:spcAft>
              <a:buSzPts val="1700"/>
              <a:buChar char="-"/>
            </a:pPr>
            <a:r>
              <a:rPr lang="en-GB" sz="1700"/>
              <a:t>Expensive</a:t>
            </a:r>
            <a:endParaRPr sz="1700"/>
          </a:p>
        </p:txBody>
      </p:sp>
      <p:sp>
        <p:nvSpPr>
          <p:cNvPr id="145" name="Google Shape;145;p22"/>
          <p:cNvSpPr/>
          <p:nvPr/>
        </p:nvSpPr>
        <p:spPr>
          <a:xfrm>
            <a:off x="4258350" y="1059150"/>
            <a:ext cx="4584600" cy="4084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46" name="Google Shape;146;p22"/>
          <p:cNvSpPr txBox="1"/>
          <p:nvPr/>
        </p:nvSpPr>
        <p:spPr>
          <a:xfrm>
            <a:off x="4324675" y="2748325"/>
            <a:ext cx="4370400" cy="206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300">
                <a:solidFill>
                  <a:schemeClr val="accent1"/>
                </a:solidFill>
                <a:latin typeface="Lato"/>
                <a:ea typeface="Lato"/>
                <a:cs typeface="Lato"/>
                <a:sym typeface="Lato"/>
              </a:rPr>
              <a:t>Totel code changes: 2322 lines added, 881 lines removed</a:t>
            </a:r>
            <a:endParaRPr sz="1300">
              <a:solidFill>
                <a:schemeClr val="accent1"/>
              </a:solidFill>
              <a:latin typeface="Lato"/>
              <a:ea typeface="Lato"/>
              <a:cs typeface="Lato"/>
              <a:sym typeface="Lato"/>
            </a:endParaRPr>
          </a:p>
          <a:p>
            <a:pPr indent="0" lvl="0" marL="0" rtl="0" algn="l">
              <a:spcBef>
                <a:spcPts val="0"/>
              </a:spcBef>
              <a:spcAft>
                <a:spcPts val="0"/>
              </a:spcAft>
              <a:buNone/>
            </a:pPr>
            <a:r>
              <a:rPr lang="en-GB" sz="1300">
                <a:solidFill>
                  <a:schemeClr val="accent1"/>
                </a:solidFill>
                <a:latin typeface="Lato"/>
                <a:ea typeface="Lato"/>
                <a:cs typeface="Lato"/>
                <a:sym typeface="Lato"/>
              </a:rPr>
              <a:t>Usage by model:</a:t>
            </a:r>
            <a:endParaRPr sz="1300">
              <a:solidFill>
                <a:schemeClr val="accent1"/>
              </a:solidFill>
              <a:latin typeface="Lato"/>
              <a:ea typeface="Lato"/>
              <a:cs typeface="Lato"/>
              <a:sym typeface="Lato"/>
            </a:endParaRPr>
          </a:p>
          <a:p>
            <a:pPr indent="0" lvl="0" marL="0" rtl="0" algn="l">
              <a:spcBef>
                <a:spcPts val="0"/>
              </a:spcBef>
              <a:spcAft>
                <a:spcPts val="0"/>
              </a:spcAft>
              <a:buNone/>
            </a:pPr>
            <a:r>
              <a:rPr lang="en-GB" sz="1300">
                <a:solidFill>
                  <a:schemeClr val="accent1"/>
                </a:solidFill>
                <a:latin typeface="Lato"/>
                <a:ea typeface="Lato"/>
                <a:cs typeface="Lato"/>
                <a:sym typeface="Lato"/>
              </a:rPr>
              <a:t>	Claude-haiku-4-5: 10.6k input, 49.4k output, 7.4m cache read, 476.4k cache write</a:t>
            </a:r>
            <a:endParaRPr sz="1300">
              <a:solidFill>
                <a:schemeClr val="accent1"/>
              </a:solidFill>
              <a:latin typeface="Lato"/>
              <a:ea typeface="Lato"/>
              <a:cs typeface="Lato"/>
              <a:sym typeface="Lato"/>
            </a:endParaRPr>
          </a:p>
          <a:p>
            <a:pPr indent="0" lvl="0" marL="0" rtl="0" algn="l">
              <a:spcBef>
                <a:spcPts val="0"/>
              </a:spcBef>
              <a:spcAft>
                <a:spcPts val="0"/>
              </a:spcAft>
              <a:buNone/>
            </a:pPr>
            <a:r>
              <a:rPr lang="en-GB" sz="1300">
                <a:solidFill>
                  <a:schemeClr val="accent1"/>
                </a:solidFill>
                <a:latin typeface="Lato"/>
                <a:ea typeface="Lato"/>
                <a:cs typeface="Lato"/>
                <a:sym typeface="Lato"/>
              </a:rPr>
              <a:t>	Claude-sonnet-4-6: 5.5k input, 166.3k output, 18.2m cache read, 1.4m cache write</a:t>
            </a:r>
            <a:endParaRPr sz="1300">
              <a:solidFill>
                <a:schemeClr val="accent1"/>
              </a:solidFill>
              <a:latin typeface="Lato"/>
              <a:ea typeface="Lato"/>
              <a:cs typeface="Lato"/>
              <a:sym typeface="Lato"/>
            </a:endParaRPr>
          </a:p>
        </p:txBody>
      </p:sp>
      <p:sp>
        <p:nvSpPr>
          <p:cNvPr id="147" name="Google Shape;147;p22"/>
          <p:cNvSpPr txBox="1"/>
          <p:nvPr/>
        </p:nvSpPr>
        <p:spPr>
          <a:xfrm>
            <a:off x="5037075" y="1212075"/>
            <a:ext cx="2827200" cy="44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300">
                <a:solidFill>
                  <a:schemeClr val="accent1"/>
                </a:solidFill>
                <a:latin typeface="Lato"/>
                <a:ea typeface="Lato"/>
                <a:cs typeface="Lato"/>
                <a:sym typeface="Lato"/>
              </a:rPr>
              <a:t>Your coefficient idea is better.</a:t>
            </a:r>
            <a:endParaRPr sz="1300">
              <a:solidFill>
                <a:schemeClr val="accent1"/>
              </a:solidFill>
              <a:latin typeface="Lato"/>
              <a:ea typeface="Lato"/>
              <a:cs typeface="Lato"/>
              <a:sym typeface="Lato"/>
            </a:endParaRPr>
          </a:p>
        </p:txBody>
      </p:sp>
      <p:sp>
        <p:nvSpPr>
          <p:cNvPr id="148" name="Google Shape;148;p22"/>
          <p:cNvSpPr txBox="1"/>
          <p:nvPr/>
        </p:nvSpPr>
        <p:spPr>
          <a:xfrm>
            <a:off x="4324675" y="1749350"/>
            <a:ext cx="4370400" cy="90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300">
                <a:solidFill>
                  <a:schemeClr val="accent1"/>
                </a:solidFill>
                <a:latin typeface="Lato"/>
                <a:ea typeface="Lato"/>
                <a:cs typeface="Lato"/>
                <a:sym typeface="Lato"/>
              </a:rPr>
              <a:t>Fit quality metric:</a:t>
            </a:r>
            <a:r>
              <a:rPr lang="en-GB" sz="1300">
                <a:solidFill>
                  <a:schemeClr val="accent1"/>
                </a:solidFill>
                <a:latin typeface="Lato"/>
                <a:ea typeface="Lato"/>
                <a:cs typeface="Lato"/>
                <a:sym typeface="Lato"/>
              </a:rPr>
              <a:t> use R^2 for linear models and </a:t>
            </a:r>
            <a:r>
              <a:rPr b="1" lang="en-GB" sz="1300">
                <a:solidFill>
                  <a:schemeClr val="accent1"/>
                </a:solidFill>
                <a:latin typeface="Lato"/>
                <a:ea typeface="Lato"/>
                <a:cs typeface="Lato"/>
                <a:sym typeface="Lato"/>
              </a:rPr>
              <a:t>McFadden’s pseudo-R^2</a:t>
            </a:r>
            <a:r>
              <a:rPr lang="en-GB" sz="1300">
                <a:solidFill>
                  <a:schemeClr val="accent1"/>
                </a:solidFill>
                <a:latin typeface="Lato"/>
                <a:ea typeface="Lato"/>
                <a:cs typeface="Lato"/>
                <a:sym typeface="Lato"/>
              </a:rPr>
              <a:t> for Poisson - allows apples -to-apples comparison across all questions.</a:t>
            </a:r>
            <a:endParaRPr sz="1300">
              <a:solidFill>
                <a:schemeClr val="accent1"/>
              </a:solidFill>
              <a:latin typeface="Lato"/>
              <a:ea typeface="Lato"/>
              <a:cs typeface="Lato"/>
              <a:sym typeface="La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52" name="Shape 152"/>
        <p:cNvGrpSpPr/>
        <p:nvPr/>
      </p:nvGrpSpPr>
      <p:grpSpPr>
        <a:xfrm>
          <a:off x="0" y="0"/>
          <a:ext cx="0" cy="0"/>
          <a:chOff x="0" y="0"/>
          <a:chExt cx="0" cy="0"/>
        </a:xfrm>
      </p:grpSpPr>
      <p:pic>
        <p:nvPicPr>
          <p:cNvPr descr="try again but make the terminal window better and aligned to the right" id="153" name="Google Shape;153;p23"/>
          <p:cNvPicPr preferRelativeResize="0"/>
          <p:nvPr/>
        </p:nvPicPr>
        <p:blipFill>
          <a:blip r:embed="rId4">
            <a:alphaModFix/>
          </a:blip>
          <a:stretch>
            <a:fillRect/>
          </a:stretch>
        </p:blipFill>
        <p:spPr>
          <a:xfrm>
            <a:off x="-35700" y="0"/>
            <a:ext cx="9210675" cy="51435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57" name="Shape 157"/>
        <p:cNvGrpSpPr/>
        <p:nvPr/>
      </p:nvGrpSpPr>
      <p:grpSpPr>
        <a:xfrm>
          <a:off x="0" y="0"/>
          <a:ext cx="0" cy="0"/>
          <a:chOff x="0" y="0"/>
          <a:chExt cx="0" cy="0"/>
        </a:xfrm>
      </p:grpSpPr>
      <p:pic>
        <p:nvPicPr>
          <p:cNvPr descr="now improve this slide, make the right part looks like teminal output" id="158" name="Google Shape;158;p24"/>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5"/>
          <p:cNvSpPr txBox="1"/>
          <p:nvPr>
            <p:ph type="title"/>
          </p:nvPr>
        </p:nvSpPr>
        <p:spPr>
          <a:xfrm>
            <a:off x="729450" y="58630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E. AI First Approach</a:t>
            </a:r>
            <a:endParaRPr/>
          </a:p>
        </p:txBody>
      </p:sp>
      <p:sp>
        <p:nvSpPr>
          <p:cNvPr id="164" name="Google Shape;164;p25"/>
          <p:cNvSpPr txBox="1"/>
          <p:nvPr>
            <p:ph idx="1" type="body"/>
          </p:nvPr>
        </p:nvSpPr>
        <p:spPr>
          <a:xfrm>
            <a:off x="377025" y="1623650"/>
            <a:ext cx="7688700" cy="2866800"/>
          </a:xfrm>
          <a:prstGeom prst="rect">
            <a:avLst/>
          </a:prstGeom>
        </p:spPr>
        <p:txBody>
          <a:bodyPr anchorCtr="0" anchor="t" bIns="91425" lIns="91425" spcFirstLastPara="1" rIns="91425" wrap="square" tIns="91425">
            <a:normAutofit fontScale="92500" lnSpcReduction="20000"/>
          </a:bodyPr>
          <a:lstStyle/>
          <a:p>
            <a:pPr indent="-328454" lvl="0" marL="457200" rtl="0" algn="l">
              <a:spcBef>
                <a:spcPts val="0"/>
              </a:spcBef>
              <a:spcAft>
                <a:spcPts val="0"/>
              </a:spcAft>
              <a:buSzPct val="100000"/>
              <a:buChar char="-"/>
            </a:pPr>
            <a:r>
              <a:rPr lang="en-GB" sz="1700"/>
              <a:t>How we used AI:</a:t>
            </a:r>
            <a:endParaRPr sz="1700"/>
          </a:p>
          <a:p>
            <a:pPr indent="-328454" lvl="1" marL="914400" rtl="0" algn="l">
              <a:spcBef>
                <a:spcPts val="0"/>
              </a:spcBef>
              <a:spcAft>
                <a:spcPts val="0"/>
              </a:spcAft>
              <a:buSzPct val="100000"/>
              <a:buChar char="-"/>
            </a:pPr>
            <a:r>
              <a:rPr lang="en-GB" sz="1700"/>
              <a:t>Planning </a:t>
            </a:r>
            <a:endParaRPr sz="1700"/>
          </a:p>
          <a:p>
            <a:pPr indent="-328454" lvl="1" marL="914400" rtl="0" algn="l">
              <a:spcBef>
                <a:spcPts val="0"/>
              </a:spcBef>
              <a:spcAft>
                <a:spcPts val="0"/>
              </a:spcAft>
              <a:buSzPct val="100000"/>
              <a:buChar char="-"/>
            </a:pPr>
            <a:r>
              <a:rPr lang="en-GB" sz="1700"/>
              <a:t>Implementing - shiny app</a:t>
            </a:r>
            <a:endParaRPr sz="1700"/>
          </a:p>
          <a:p>
            <a:pPr indent="-328454" lvl="1" marL="914400" rtl="0" algn="l">
              <a:spcBef>
                <a:spcPts val="0"/>
              </a:spcBef>
              <a:spcAft>
                <a:spcPts val="0"/>
              </a:spcAft>
              <a:buSzPct val="100000"/>
              <a:buChar char="-"/>
            </a:pPr>
            <a:r>
              <a:rPr lang="en-GB" sz="1700"/>
              <a:t>Analysing </a:t>
            </a:r>
            <a:endParaRPr sz="1700"/>
          </a:p>
          <a:p>
            <a:pPr indent="-328454" lvl="0" marL="457200" rtl="0" algn="l">
              <a:spcBef>
                <a:spcPts val="0"/>
              </a:spcBef>
              <a:spcAft>
                <a:spcPts val="0"/>
              </a:spcAft>
              <a:buSzPct val="100000"/>
              <a:buChar char="-"/>
            </a:pPr>
            <a:r>
              <a:rPr lang="en-GB" sz="1700"/>
              <a:t>Pros:</a:t>
            </a:r>
            <a:endParaRPr sz="1700"/>
          </a:p>
          <a:p>
            <a:pPr indent="-328454" lvl="1" marL="914400" rtl="0" algn="l">
              <a:spcBef>
                <a:spcPts val="0"/>
              </a:spcBef>
              <a:spcAft>
                <a:spcPts val="0"/>
              </a:spcAft>
              <a:buSzPct val="100000"/>
              <a:buChar char="-"/>
            </a:pPr>
            <a:r>
              <a:rPr lang="en-GB" sz="1700"/>
              <a:t>Better decisions driven by expertise (statistics, biology)</a:t>
            </a:r>
            <a:endParaRPr sz="1700"/>
          </a:p>
          <a:p>
            <a:pPr indent="-328454" lvl="1" marL="914400" rtl="0" algn="l">
              <a:spcBef>
                <a:spcPts val="0"/>
              </a:spcBef>
              <a:spcAft>
                <a:spcPts val="0"/>
              </a:spcAft>
              <a:buSzPct val="100000"/>
              <a:buChar char="-"/>
            </a:pPr>
            <a:r>
              <a:rPr lang="en-GB" sz="1700"/>
              <a:t>Creative ideas we didn’t think of</a:t>
            </a:r>
            <a:endParaRPr sz="1700"/>
          </a:p>
          <a:p>
            <a:pPr indent="-328454" lvl="0" marL="457200" rtl="0" algn="l">
              <a:spcBef>
                <a:spcPts val="0"/>
              </a:spcBef>
              <a:spcAft>
                <a:spcPts val="0"/>
              </a:spcAft>
              <a:buSzPct val="100000"/>
              <a:buChar char="-"/>
            </a:pPr>
            <a:r>
              <a:rPr lang="en-GB" sz="1700"/>
              <a:t>Cons:</a:t>
            </a:r>
            <a:endParaRPr sz="1700"/>
          </a:p>
          <a:p>
            <a:pPr indent="-328454" lvl="1" marL="914400" rtl="0" algn="l">
              <a:spcBef>
                <a:spcPts val="0"/>
              </a:spcBef>
              <a:spcAft>
                <a:spcPts val="0"/>
              </a:spcAft>
              <a:buSzPct val="100000"/>
              <a:buChar char="-"/>
            </a:pPr>
            <a:r>
              <a:rPr lang="en-GB" sz="1700"/>
              <a:t>Bad at visualizing</a:t>
            </a:r>
            <a:endParaRPr sz="1700"/>
          </a:p>
          <a:p>
            <a:pPr indent="-328454" lvl="1" marL="914400" rtl="0" algn="l">
              <a:spcBef>
                <a:spcPts val="0"/>
              </a:spcBef>
              <a:spcAft>
                <a:spcPts val="0"/>
              </a:spcAft>
              <a:buSzPct val="100000"/>
              <a:buChar char="-"/>
            </a:pPr>
            <a:r>
              <a:rPr lang="en-GB" sz="1700"/>
              <a:t>Less familiarity with codebase</a:t>
            </a:r>
            <a:endParaRPr sz="1700"/>
          </a:p>
          <a:p>
            <a:pPr indent="-328454" lvl="1" marL="914400" rtl="0" algn="l">
              <a:spcBef>
                <a:spcPts val="0"/>
              </a:spcBef>
              <a:spcAft>
                <a:spcPts val="0"/>
              </a:spcAft>
              <a:buSzPct val="100000"/>
              <a:buChar char="-"/>
            </a:pPr>
            <a:r>
              <a:rPr lang="en-GB" sz="1700"/>
              <a:t>Expensive</a:t>
            </a:r>
            <a:endParaRPr sz="17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